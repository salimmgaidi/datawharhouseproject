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Proxima Nova Bold" charset="1" panose="02000506030000020004"/>
      <p:regular r:id="rId26"/>
    </p:embeddedFont>
    <p:embeddedFont>
      <p:font typeface="Proxima Nova" charset="1" panose="02000506030000020004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13.png" Type="http://schemas.openxmlformats.org/officeDocument/2006/relationships/image"/><Relationship Id="rId13" Target="../media/image24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39.png" Type="http://schemas.openxmlformats.org/officeDocument/2006/relationships/image"/><Relationship Id="rId13" Target="../media/image41.png" Type="http://schemas.openxmlformats.org/officeDocument/2006/relationships/image"/><Relationship Id="rId14" Target="../media/image42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2" Target="../media/image4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2" Target="../media/image4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2" Target="../media/image5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jpe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jpe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59.png" Type="http://schemas.openxmlformats.org/officeDocument/2006/relationships/image"/><Relationship Id="rId15" Target="../media/image60.svg" Type="http://schemas.openxmlformats.org/officeDocument/2006/relationships/image"/><Relationship Id="rId16" Target="../media/image61.png" Type="http://schemas.openxmlformats.org/officeDocument/2006/relationships/image"/><Relationship Id="rId17" Target="../media/image62.sv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4539" y="9009599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6" y="0"/>
                </a:lnTo>
                <a:lnTo>
                  <a:pt x="6503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26197" y="3163867"/>
            <a:ext cx="2814723" cy="4539876"/>
          </a:xfrm>
          <a:custGeom>
            <a:avLst/>
            <a:gdLst/>
            <a:ahLst/>
            <a:cxnLst/>
            <a:rect r="r" b="b" t="t" l="l"/>
            <a:pathLst>
              <a:path h="4539876" w="2814723">
                <a:moveTo>
                  <a:pt x="0" y="0"/>
                </a:moveTo>
                <a:lnTo>
                  <a:pt x="2814724" y="0"/>
                </a:lnTo>
                <a:lnTo>
                  <a:pt x="2814724" y="4539876"/>
                </a:lnTo>
                <a:lnTo>
                  <a:pt x="0" y="4539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59947" y="-963229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0" y="0"/>
                </a:lnTo>
                <a:lnTo>
                  <a:pt x="4100910" y="2878093"/>
                </a:lnTo>
                <a:lnTo>
                  <a:pt x="0" y="2878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69043" y="3211454"/>
            <a:ext cx="2708287" cy="4114800"/>
          </a:xfrm>
          <a:custGeom>
            <a:avLst/>
            <a:gdLst/>
            <a:ahLst/>
            <a:cxnLst/>
            <a:rect r="r" b="b" t="t" l="l"/>
            <a:pathLst>
              <a:path h="4114800" w="2708287">
                <a:moveTo>
                  <a:pt x="0" y="0"/>
                </a:moveTo>
                <a:lnTo>
                  <a:pt x="2708286" y="0"/>
                </a:lnTo>
                <a:lnTo>
                  <a:pt x="2708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09433" y="8101218"/>
            <a:ext cx="6357135" cy="4114800"/>
          </a:xfrm>
          <a:custGeom>
            <a:avLst/>
            <a:gdLst/>
            <a:ahLst/>
            <a:cxnLst/>
            <a:rect r="r" b="b" t="t" l="l"/>
            <a:pathLst>
              <a:path h="4114800" w="6357135">
                <a:moveTo>
                  <a:pt x="0" y="0"/>
                </a:moveTo>
                <a:lnTo>
                  <a:pt x="6357134" y="0"/>
                </a:lnTo>
                <a:lnTo>
                  <a:pt x="6357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75097" y="5607926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2551176" y="0"/>
                </a:moveTo>
                <a:lnTo>
                  <a:pt x="0" y="0"/>
                </a:lnTo>
                <a:lnTo>
                  <a:pt x="0" y="4114800"/>
                </a:lnTo>
                <a:lnTo>
                  <a:pt x="2551176" y="4114800"/>
                </a:lnTo>
                <a:lnTo>
                  <a:pt x="255117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30862" y="7366607"/>
            <a:ext cx="1811657" cy="1015832"/>
          </a:xfrm>
          <a:custGeom>
            <a:avLst/>
            <a:gdLst/>
            <a:ahLst/>
            <a:cxnLst/>
            <a:rect r="r" b="b" t="t" l="l"/>
            <a:pathLst>
              <a:path h="1015832" w="1811657">
                <a:moveTo>
                  <a:pt x="0" y="0"/>
                </a:moveTo>
                <a:lnTo>
                  <a:pt x="1811657" y="0"/>
                </a:lnTo>
                <a:lnTo>
                  <a:pt x="1811657" y="1015832"/>
                </a:lnTo>
                <a:lnTo>
                  <a:pt x="0" y="101583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09282" y="7528170"/>
            <a:ext cx="1072715" cy="804536"/>
          </a:xfrm>
          <a:custGeom>
            <a:avLst/>
            <a:gdLst/>
            <a:ahLst/>
            <a:cxnLst/>
            <a:rect r="r" b="b" t="t" l="l"/>
            <a:pathLst>
              <a:path h="804536" w="1072715">
                <a:moveTo>
                  <a:pt x="0" y="0"/>
                </a:moveTo>
                <a:lnTo>
                  <a:pt x="1072714" y="0"/>
                </a:lnTo>
                <a:lnTo>
                  <a:pt x="1072714" y="804536"/>
                </a:lnTo>
                <a:lnTo>
                  <a:pt x="0" y="8045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7759658"/>
            <a:ext cx="1366239" cy="341560"/>
          </a:xfrm>
          <a:custGeom>
            <a:avLst/>
            <a:gdLst/>
            <a:ahLst/>
            <a:cxnLst/>
            <a:rect r="r" b="b" t="t" l="l"/>
            <a:pathLst>
              <a:path h="341560" w="1366239">
                <a:moveTo>
                  <a:pt x="0" y="0"/>
                </a:moveTo>
                <a:lnTo>
                  <a:pt x="1366239" y="0"/>
                </a:lnTo>
                <a:lnTo>
                  <a:pt x="1366239" y="341560"/>
                </a:lnTo>
                <a:lnTo>
                  <a:pt x="0" y="34156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76989" y="7480062"/>
            <a:ext cx="897838" cy="852644"/>
          </a:xfrm>
          <a:custGeom>
            <a:avLst/>
            <a:gdLst/>
            <a:ahLst/>
            <a:cxnLst/>
            <a:rect r="r" b="b" t="t" l="l"/>
            <a:pathLst>
              <a:path h="852644" w="897838">
                <a:moveTo>
                  <a:pt x="0" y="0"/>
                </a:moveTo>
                <a:lnTo>
                  <a:pt x="897837" y="0"/>
                </a:lnTo>
                <a:lnTo>
                  <a:pt x="897837" y="852644"/>
                </a:lnTo>
                <a:lnTo>
                  <a:pt x="0" y="85264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2650" r="0" b="-265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545402" y="0"/>
            <a:ext cx="3571674" cy="2413293"/>
          </a:xfrm>
          <a:custGeom>
            <a:avLst/>
            <a:gdLst/>
            <a:ahLst/>
            <a:cxnLst/>
            <a:rect r="r" b="b" t="t" l="l"/>
            <a:pathLst>
              <a:path h="2413293" w="3571674">
                <a:moveTo>
                  <a:pt x="0" y="0"/>
                </a:moveTo>
                <a:lnTo>
                  <a:pt x="3571675" y="0"/>
                </a:lnTo>
                <a:lnTo>
                  <a:pt x="3571675" y="2413293"/>
                </a:lnTo>
                <a:lnTo>
                  <a:pt x="0" y="241329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26273" y="855763"/>
            <a:ext cx="12235455" cy="4584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22"/>
              </a:lnSpc>
            </a:pPr>
            <a:r>
              <a:rPr lang="en-US" b="true" sz="9620" spc="-606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Conception d’un Tableau de Bord pour l’Analyse des Statistiques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87974" y="5541251"/>
            <a:ext cx="951205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spc="-220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 l’Éducati</a:t>
            </a:r>
            <a:r>
              <a:rPr lang="en-US" b="true" sz="3500" spc="-220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on, de l’Emploi et de la Migration en Tunisie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85935" y="9142278"/>
            <a:ext cx="11316129" cy="101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6"/>
              </a:lnSpc>
            </a:pPr>
            <a:r>
              <a:rPr lang="en-US" sz="1975" spc="-124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Salim Mgaidi – Sami Ferchichi – Iheb Mokhtar Ben Chebil – Farah Ouni –</a:t>
            </a:r>
            <a:r>
              <a:rPr lang="en-US" sz="1975" spc="-124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</a:p>
          <a:p>
            <a:pPr algn="ctr">
              <a:lnSpc>
                <a:spcPts val="2766"/>
              </a:lnSpc>
            </a:pPr>
            <a:r>
              <a:rPr lang="en-US" sz="1975" spc="-124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Raslen Korbosli – Islem Belarbi – Mohamed Yacine Ayari – Moetaz Marzouki – Firas Bessioud – Emna Ajmi</a:t>
            </a:r>
          </a:p>
          <a:p>
            <a:pPr algn="ctr">
              <a:lnSpc>
                <a:spcPts val="2766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373863" y="8604724"/>
            <a:ext cx="1540275" cy="4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9"/>
              </a:lnSpc>
              <a:spcBef>
                <a:spcPct val="0"/>
              </a:spcBef>
            </a:pPr>
            <a:r>
              <a:rPr lang="en-US" b="true" sz="2421" spc="-152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Préparé</a:t>
            </a:r>
            <a:r>
              <a:rPr lang="en-US" b="true" sz="2421" spc="-152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par 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40480" y="-466924"/>
            <a:ext cx="2870338" cy="4902751"/>
          </a:xfrm>
          <a:custGeom>
            <a:avLst/>
            <a:gdLst/>
            <a:ahLst/>
            <a:cxnLst/>
            <a:rect r="r" b="b" t="t" l="l"/>
            <a:pathLst>
              <a:path h="4902751" w="2870338">
                <a:moveTo>
                  <a:pt x="0" y="0"/>
                </a:moveTo>
                <a:lnTo>
                  <a:pt x="2870338" y="0"/>
                </a:lnTo>
                <a:lnTo>
                  <a:pt x="2870338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25739" y="4724406"/>
            <a:ext cx="5511729" cy="3868232"/>
          </a:xfrm>
          <a:custGeom>
            <a:avLst/>
            <a:gdLst/>
            <a:ahLst/>
            <a:cxnLst/>
            <a:rect r="r" b="b" t="t" l="l"/>
            <a:pathLst>
              <a:path h="3868232" w="5511729">
                <a:moveTo>
                  <a:pt x="0" y="0"/>
                </a:moveTo>
                <a:lnTo>
                  <a:pt x="5511729" y="0"/>
                </a:lnTo>
                <a:lnTo>
                  <a:pt x="5511729" y="3868232"/>
                </a:lnTo>
                <a:lnTo>
                  <a:pt x="0" y="3868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2098" y="210594"/>
            <a:ext cx="3841974" cy="4902751"/>
          </a:xfrm>
          <a:custGeom>
            <a:avLst/>
            <a:gdLst/>
            <a:ahLst/>
            <a:cxnLst/>
            <a:rect r="r" b="b" t="t" l="l"/>
            <a:pathLst>
              <a:path h="4902751" w="3841974">
                <a:moveTo>
                  <a:pt x="0" y="0"/>
                </a:moveTo>
                <a:lnTo>
                  <a:pt x="3841974" y="0"/>
                </a:lnTo>
                <a:lnTo>
                  <a:pt x="3841974" y="4902752"/>
                </a:lnTo>
                <a:lnTo>
                  <a:pt x="0" y="4902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545140" y="8881217"/>
            <a:ext cx="7574475" cy="4902751"/>
          </a:xfrm>
          <a:custGeom>
            <a:avLst/>
            <a:gdLst/>
            <a:ahLst/>
            <a:cxnLst/>
            <a:rect r="r" b="b" t="t" l="l"/>
            <a:pathLst>
              <a:path h="4902751" w="7574475">
                <a:moveTo>
                  <a:pt x="0" y="0"/>
                </a:moveTo>
                <a:lnTo>
                  <a:pt x="7574475" y="0"/>
                </a:lnTo>
                <a:lnTo>
                  <a:pt x="7574475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24672" y="6310257"/>
            <a:ext cx="1832956" cy="2057400"/>
          </a:xfrm>
          <a:custGeom>
            <a:avLst/>
            <a:gdLst/>
            <a:ahLst/>
            <a:cxnLst/>
            <a:rect r="r" b="b" t="t" l="l"/>
            <a:pathLst>
              <a:path h="2057400" w="1832956">
                <a:moveTo>
                  <a:pt x="0" y="0"/>
                </a:moveTo>
                <a:lnTo>
                  <a:pt x="1832957" y="0"/>
                </a:lnTo>
                <a:lnTo>
                  <a:pt x="1832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28352" y="8231676"/>
            <a:ext cx="2736732" cy="1534539"/>
          </a:xfrm>
          <a:custGeom>
            <a:avLst/>
            <a:gdLst/>
            <a:ahLst/>
            <a:cxnLst/>
            <a:rect r="r" b="b" t="t" l="l"/>
            <a:pathLst>
              <a:path h="1534539" w="2736732">
                <a:moveTo>
                  <a:pt x="0" y="0"/>
                </a:moveTo>
                <a:lnTo>
                  <a:pt x="2736732" y="0"/>
                </a:lnTo>
                <a:lnTo>
                  <a:pt x="2736732" y="1534540"/>
                </a:lnTo>
                <a:lnTo>
                  <a:pt x="0" y="15345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41572" y="3160369"/>
            <a:ext cx="3966262" cy="3966262"/>
          </a:xfrm>
          <a:custGeom>
            <a:avLst/>
            <a:gdLst/>
            <a:ahLst/>
            <a:cxnLst/>
            <a:rect r="r" b="b" t="t" l="l"/>
            <a:pathLst>
              <a:path h="3966262" w="3966262">
                <a:moveTo>
                  <a:pt x="0" y="0"/>
                </a:moveTo>
                <a:lnTo>
                  <a:pt x="3966262" y="0"/>
                </a:lnTo>
                <a:lnTo>
                  <a:pt x="3966262" y="3966262"/>
                </a:lnTo>
                <a:lnTo>
                  <a:pt x="0" y="39662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18058" y="67519"/>
            <a:ext cx="10141006" cy="297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7"/>
              </a:lnSpc>
            </a:pPr>
            <a:r>
              <a:rPr lang="en-US" sz="11113" spc="-700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Contexte et Problématique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7834" y="7038213"/>
            <a:ext cx="8566947" cy="324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19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Malgré la disponibilité des données publiées par l’Institut National de la Statistique (INS), plusieurs obstacles persistent :</a:t>
            </a:r>
          </a:p>
          <a:p>
            <a:pPr algn="l" marL="410211" indent="-205106" lvl="1">
              <a:lnSpc>
                <a:spcPts val="3249"/>
              </a:lnSpc>
              <a:buFont typeface="Arial"/>
              <a:buChar char="•"/>
            </a:pPr>
            <a:r>
              <a:rPr lang="en-US" sz="19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Les données sont dispersées, difficiles à consulter et à comparer.</a:t>
            </a:r>
          </a:p>
          <a:p>
            <a:pPr algn="l" marL="410211" indent="-205106" lvl="1">
              <a:lnSpc>
                <a:spcPts val="3249"/>
              </a:lnSpc>
              <a:buFont typeface="Arial"/>
              <a:buChar char="•"/>
            </a:pPr>
            <a:r>
              <a:rPr lang="en-US" sz="19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Absence d’un outil intégré permettant de comprendre la relation entre éducation, emploi et migration.</a:t>
            </a:r>
          </a:p>
          <a:p>
            <a:pPr algn="l" marL="410211" indent="-205106" lvl="1">
              <a:lnSpc>
                <a:spcPts val="3249"/>
              </a:lnSpc>
              <a:buFont typeface="Arial"/>
              <a:buChar char="•"/>
            </a:pPr>
            <a:r>
              <a:rPr lang="en-US" sz="19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Manque de visibilité sur les populations vulnérables : régions, tranches d’âge, genre, milieu.</a:t>
            </a: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265084" y="3477624"/>
            <a:ext cx="8216465" cy="3540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La Tunisie fait face depuis plusieurs années à trois défis majeurs :</a:t>
            </a:r>
          </a:p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Un système éducatif en difficulté, marqué par des disparités régionales dans la scolarisation.</a:t>
            </a:r>
          </a:p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Un taux de chômage élevé, notamment chez les jeunes et les diplômés.</a:t>
            </a:r>
          </a:p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Une augmentation des migrations, souvent motivées par la recherche d'opportunités sociales ou économiques.</a:t>
            </a:r>
          </a:p>
          <a:p>
            <a:pPr algn="l">
              <a:lnSpc>
                <a:spcPts val="359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21160" y="4742829"/>
            <a:ext cx="4492767" cy="4386574"/>
          </a:xfrm>
          <a:custGeom>
            <a:avLst/>
            <a:gdLst/>
            <a:ahLst/>
            <a:cxnLst/>
            <a:rect r="r" b="b" t="t" l="l"/>
            <a:pathLst>
              <a:path h="4386574" w="4492767">
                <a:moveTo>
                  <a:pt x="0" y="0"/>
                </a:moveTo>
                <a:lnTo>
                  <a:pt x="4492766" y="0"/>
                </a:lnTo>
                <a:lnTo>
                  <a:pt x="4492766" y="4386574"/>
                </a:lnTo>
                <a:lnTo>
                  <a:pt x="0" y="4386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050520" y="1180027"/>
            <a:ext cx="3106566" cy="4250276"/>
          </a:xfrm>
          <a:custGeom>
            <a:avLst/>
            <a:gdLst/>
            <a:ahLst/>
            <a:cxnLst/>
            <a:rect r="r" b="b" t="t" l="l"/>
            <a:pathLst>
              <a:path h="4250276" w="3106566">
                <a:moveTo>
                  <a:pt x="3106566" y="0"/>
                </a:moveTo>
                <a:lnTo>
                  <a:pt x="0" y="0"/>
                </a:lnTo>
                <a:lnTo>
                  <a:pt x="0" y="4250276"/>
                </a:lnTo>
                <a:lnTo>
                  <a:pt x="3106566" y="4250276"/>
                </a:lnTo>
                <a:lnTo>
                  <a:pt x="31065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3926" y="4898623"/>
            <a:ext cx="3812587" cy="2675743"/>
          </a:xfrm>
          <a:custGeom>
            <a:avLst/>
            <a:gdLst/>
            <a:ahLst/>
            <a:cxnLst/>
            <a:rect r="r" b="b" t="t" l="l"/>
            <a:pathLst>
              <a:path h="2675743" w="3812587">
                <a:moveTo>
                  <a:pt x="0" y="0"/>
                </a:moveTo>
                <a:lnTo>
                  <a:pt x="3812588" y="0"/>
                </a:lnTo>
                <a:lnTo>
                  <a:pt x="3812588" y="2675743"/>
                </a:lnTo>
                <a:lnTo>
                  <a:pt x="0" y="2675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43981" y="9258300"/>
            <a:ext cx="4510398" cy="2903056"/>
          </a:xfrm>
          <a:custGeom>
            <a:avLst/>
            <a:gdLst/>
            <a:ahLst/>
            <a:cxnLst/>
            <a:rect r="r" b="b" t="t" l="l"/>
            <a:pathLst>
              <a:path h="2903056" w="4510398">
                <a:moveTo>
                  <a:pt x="0" y="0"/>
                </a:moveTo>
                <a:lnTo>
                  <a:pt x="4510398" y="0"/>
                </a:lnTo>
                <a:lnTo>
                  <a:pt x="4510398" y="2903056"/>
                </a:lnTo>
                <a:lnTo>
                  <a:pt x="0" y="29030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92664" y="605221"/>
            <a:ext cx="11343042" cy="140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1"/>
              </a:lnSpc>
            </a:pPr>
            <a:r>
              <a:rPr lang="en-US" sz="10113" spc="-637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Objectifs du Projet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2549574" y="978173"/>
            <a:ext cx="2430360" cy="3454000"/>
          </a:xfrm>
          <a:custGeom>
            <a:avLst/>
            <a:gdLst/>
            <a:ahLst/>
            <a:cxnLst/>
            <a:rect r="r" b="b" t="t" l="l"/>
            <a:pathLst>
              <a:path h="3454000" w="2430360">
                <a:moveTo>
                  <a:pt x="2430360" y="0"/>
                </a:moveTo>
                <a:lnTo>
                  <a:pt x="0" y="0"/>
                </a:lnTo>
                <a:lnTo>
                  <a:pt x="0" y="3454000"/>
                </a:lnTo>
                <a:lnTo>
                  <a:pt x="2430360" y="3454000"/>
                </a:lnTo>
                <a:lnTo>
                  <a:pt x="243036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312151" y="7868683"/>
            <a:ext cx="6357135" cy="4114800"/>
          </a:xfrm>
          <a:custGeom>
            <a:avLst/>
            <a:gdLst/>
            <a:ahLst/>
            <a:cxnLst/>
            <a:rect r="r" b="b" t="t" l="l"/>
            <a:pathLst>
              <a:path h="4114800" w="6357135">
                <a:moveTo>
                  <a:pt x="6357135" y="0"/>
                </a:moveTo>
                <a:lnTo>
                  <a:pt x="0" y="0"/>
                </a:lnTo>
                <a:lnTo>
                  <a:pt x="0" y="4114800"/>
                </a:lnTo>
                <a:lnTo>
                  <a:pt x="6357135" y="4114800"/>
                </a:lnTo>
                <a:lnTo>
                  <a:pt x="635713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92664" y="2832438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 1.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66879" y="2770751"/>
            <a:ext cx="5481737" cy="125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2999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Analyse Éducation, Emploi, Migration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664" y="4710043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2.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66879" y="4746223"/>
            <a:ext cx="5593034" cy="125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2999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Détection des populations vulnérables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2664" y="6682897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66879" y="6871421"/>
            <a:ext cx="5481737" cy="125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2999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Prise de décision basée sur données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92664" y="8595413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4.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66879" y="9001212"/>
            <a:ext cx="5481737" cy="60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2999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Définir des programmes ciblés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5430" y="3507927"/>
            <a:ext cx="3354861" cy="1970997"/>
            <a:chOff x="0" y="0"/>
            <a:chExt cx="933099" cy="54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3099" cy="548200"/>
            </a:xfrm>
            <a:custGeom>
              <a:avLst/>
              <a:gdLst/>
              <a:ahLst/>
              <a:cxnLst/>
              <a:rect r="r" b="b" t="t" l="l"/>
              <a:pathLst>
                <a:path h="548200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548200"/>
                  </a:lnTo>
                  <a:lnTo>
                    <a:pt x="0" y="548200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33099" cy="58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95386" y="3507927"/>
            <a:ext cx="3354861" cy="1970997"/>
            <a:chOff x="0" y="0"/>
            <a:chExt cx="933099" cy="548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3099" cy="548200"/>
            </a:xfrm>
            <a:custGeom>
              <a:avLst/>
              <a:gdLst/>
              <a:ahLst/>
              <a:cxnLst/>
              <a:rect r="r" b="b" t="t" l="l"/>
              <a:pathLst>
                <a:path h="548200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548200"/>
                  </a:lnTo>
                  <a:lnTo>
                    <a:pt x="0" y="548200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3099" cy="58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42292" y="3514668"/>
            <a:ext cx="3354861" cy="1970997"/>
            <a:chOff x="0" y="0"/>
            <a:chExt cx="933099" cy="548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3099" cy="548200"/>
            </a:xfrm>
            <a:custGeom>
              <a:avLst/>
              <a:gdLst/>
              <a:ahLst/>
              <a:cxnLst/>
              <a:rect r="r" b="b" t="t" l="l"/>
              <a:pathLst>
                <a:path h="548200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548200"/>
                  </a:lnTo>
                  <a:lnTo>
                    <a:pt x="0" y="548200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3099" cy="58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563358" y="3507927"/>
            <a:ext cx="3354861" cy="1970997"/>
            <a:chOff x="0" y="0"/>
            <a:chExt cx="933099" cy="548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3099" cy="548200"/>
            </a:xfrm>
            <a:custGeom>
              <a:avLst/>
              <a:gdLst/>
              <a:ahLst/>
              <a:cxnLst/>
              <a:rect r="r" b="b" t="t" l="l"/>
              <a:pathLst>
                <a:path h="548200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548200"/>
                  </a:lnTo>
                  <a:lnTo>
                    <a:pt x="0" y="548200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33099" cy="58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879564" y="-1257149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6" y="0"/>
                </a:lnTo>
                <a:lnTo>
                  <a:pt x="4106216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00587" y="-2810600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701341" y="7798750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6" y="0"/>
                </a:lnTo>
                <a:lnTo>
                  <a:pt x="334149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2004089" y="3147141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-10800000">
            <a:off x="4456159" y="4142675"/>
            <a:ext cx="868195" cy="714984"/>
            <a:chOff x="0" y="0"/>
            <a:chExt cx="647700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73E7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0650" y="241300"/>
              <a:ext cx="52705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0800000">
            <a:off x="9012172" y="4135933"/>
            <a:ext cx="868195" cy="714984"/>
            <a:chOff x="0" y="0"/>
            <a:chExt cx="647700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73E7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0650" y="241300"/>
              <a:ext cx="52705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13533238" y="4135933"/>
            <a:ext cx="868195" cy="714984"/>
            <a:chOff x="0" y="0"/>
            <a:chExt cx="647700" cy="533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73E7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0650" y="241300"/>
              <a:ext cx="52705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0509" y="6069474"/>
            <a:ext cx="3979146" cy="3255501"/>
            <a:chOff x="0" y="0"/>
            <a:chExt cx="953291" cy="7799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3291" cy="779926"/>
            </a:xfrm>
            <a:custGeom>
              <a:avLst/>
              <a:gdLst/>
              <a:ahLst/>
              <a:cxnLst/>
              <a:rect r="r" b="b" t="t" l="l"/>
              <a:pathLst>
                <a:path h="779926" w="953291">
                  <a:moveTo>
                    <a:pt x="194562" y="0"/>
                  </a:moveTo>
                  <a:lnTo>
                    <a:pt x="758728" y="0"/>
                  </a:lnTo>
                  <a:cubicBezTo>
                    <a:pt x="810330" y="0"/>
                    <a:pt x="859817" y="20498"/>
                    <a:pt x="896305" y="56986"/>
                  </a:cubicBezTo>
                  <a:cubicBezTo>
                    <a:pt x="932792" y="93474"/>
                    <a:pt x="953291" y="142961"/>
                    <a:pt x="953291" y="194562"/>
                  </a:cubicBezTo>
                  <a:lnTo>
                    <a:pt x="953291" y="585363"/>
                  </a:lnTo>
                  <a:cubicBezTo>
                    <a:pt x="953291" y="692817"/>
                    <a:pt x="866182" y="779926"/>
                    <a:pt x="758728" y="779926"/>
                  </a:cubicBezTo>
                  <a:lnTo>
                    <a:pt x="194562" y="779926"/>
                  </a:lnTo>
                  <a:cubicBezTo>
                    <a:pt x="142961" y="779926"/>
                    <a:pt x="93474" y="759427"/>
                    <a:pt x="56986" y="722940"/>
                  </a:cubicBezTo>
                  <a:cubicBezTo>
                    <a:pt x="20498" y="686452"/>
                    <a:pt x="0" y="636965"/>
                    <a:pt x="0" y="585363"/>
                  </a:cubicBezTo>
                  <a:lnTo>
                    <a:pt x="0" y="194562"/>
                  </a:lnTo>
                  <a:cubicBezTo>
                    <a:pt x="0" y="142961"/>
                    <a:pt x="20498" y="93474"/>
                    <a:pt x="56986" y="56986"/>
                  </a:cubicBezTo>
                  <a:cubicBezTo>
                    <a:pt x="93474" y="20498"/>
                    <a:pt x="142961" y="0"/>
                    <a:pt x="194562" y="0"/>
                  </a:cubicBez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53291" cy="81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511993" y="1457170"/>
            <a:ext cx="13868554" cy="145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571"/>
              </a:lnSpc>
            </a:pPr>
            <a:r>
              <a:rPr lang="en-US" b="true" sz="12013" spc="-756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Architecture Globale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4530" y="4163833"/>
            <a:ext cx="2791104" cy="68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7"/>
              </a:lnSpc>
            </a:pPr>
            <a:r>
              <a:rPr lang="en-US" b="true" sz="5656" spc="-356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14879" y="3909930"/>
            <a:ext cx="2791104" cy="124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2"/>
              </a:lnSpc>
            </a:pPr>
            <a:r>
              <a:rPr lang="en-US" b="true" sz="4656" spc="-293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Staging Area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70892" y="4027328"/>
            <a:ext cx="2791104" cy="107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7"/>
              </a:lnSpc>
            </a:pPr>
            <a:r>
              <a:rPr lang="en-US" b="true" sz="4656" spc="-293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 Warehouse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819396" y="4271840"/>
            <a:ext cx="2791104" cy="61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7"/>
              </a:lnSpc>
            </a:pPr>
            <a:r>
              <a:rPr lang="en-US" b="true" sz="5156" spc="-324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Power BI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957224" y="6133952"/>
            <a:ext cx="4267623" cy="3419339"/>
            <a:chOff x="0" y="0"/>
            <a:chExt cx="973413" cy="7799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3413" cy="779926"/>
            </a:xfrm>
            <a:custGeom>
              <a:avLst/>
              <a:gdLst/>
              <a:ahLst/>
              <a:cxnLst/>
              <a:rect r="r" b="b" t="t" l="l"/>
              <a:pathLst>
                <a:path h="779926" w="973413">
                  <a:moveTo>
                    <a:pt x="181411" y="0"/>
                  </a:moveTo>
                  <a:lnTo>
                    <a:pt x="792003" y="0"/>
                  </a:lnTo>
                  <a:cubicBezTo>
                    <a:pt x="840116" y="0"/>
                    <a:pt x="886258" y="19113"/>
                    <a:pt x="920279" y="53134"/>
                  </a:cubicBezTo>
                  <a:cubicBezTo>
                    <a:pt x="954300" y="87155"/>
                    <a:pt x="973413" y="133298"/>
                    <a:pt x="973413" y="181411"/>
                  </a:cubicBezTo>
                  <a:lnTo>
                    <a:pt x="973413" y="598515"/>
                  </a:lnTo>
                  <a:cubicBezTo>
                    <a:pt x="973413" y="646628"/>
                    <a:pt x="954300" y="692771"/>
                    <a:pt x="920279" y="726792"/>
                  </a:cubicBezTo>
                  <a:cubicBezTo>
                    <a:pt x="886258" y="760813"/>
                    <a:pt x="840116" y="779926"/>
                    <a:pt x="792003" y="779926"/>
                  </a:cubicBezTo>
                  <a:lnTo>
                    <a:pt x="181411" y="779926"/>
                  </a:lnTo>
                  <a:cubicBezTo>
                    <a:pt x="133298" y="779926"/>
                    <a:pt x="87155" y="760813"/>
                    <a:pt x="53134" y="726792"/>
                  </a:cubicBezTo>
                  <a:cubicBezTo>
                    <a:pt x="19113" y="692771"/>
                    <a:pt x="0" y="646628"/>
                    <a:pt x="0" y="598515"/>
                  </a:cubicBezTo>
                  <a:lnTo>
                    <a:pt x="0" y="181411"/>
                  </a:lnTo>
                  <a:cubicBezTo>
                    <a:pt x="0" y="133298"/>
                    <a:pt x="19113" y="87155"/>
                    <a:pt x="53134" y="53134"/>
                  </a:cubicBezTo>
                  <a:cubicBezTo>
                    <a:pt x="87155" y="19113"/>
                    <a:pt x="133298" y="0"/>
                    <a:pt x="181411" y="0"/>
                  </a:cubicBez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73413" cy="81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17037" y="6255404"/>
            <a:ext cx="3898816" cy="3189779"/>
            <a:chOff x="0" y="0"/>
            <a:chExt cx="953291" cy="77992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3291" cy="779926"/>
            </a:xfrm>
            <a:custGeom>
              <a:avLst/>
              <a:gdLst/>
              <a:ahLst/>
              <a:cxnLst/>
              <a:rect r="r" b="b" t="t" l="l"/>
              <a:pathLst>
                <a:path h="779926" w="953291">
                  <a:moveTo>
                    <a:pt x="198571" y="0"/>
                  </a:moveTo>
                  <a:lnTo>
                    <a:pt x="754720" y="0"/>
                  </a:lnTo>
                  <a:cubicBezTo>
                    <a:pt x="807384" y="0"/>
                    <a:pt x="857891" y="20921"/>
                    <a:pt x="895131" y="58160"/>
                  </a:cubicBezTo>
                  <a:cubicBezTo>
                    <a:pt x="932370" y="95399"/>
                    <a:pt x="953291" y="145907"/>
                    <a:pt x="953291" y="198571"/>
                  </a:cubicBezTo>
                  <a:lnTo>
                    <a:pt x="953291" y="581355"/>
                  </a:lnTo>
                  <a:cubicBezTo>
                    <a:pt x="953291" y="634019"/>
                    <a:pt x="932370" y="684526"/>
                    <a:pt x="895131" y="721766"/>
                  </a:cubicBezTo>
                  <a:cubicBezTo>
                    <a:pt x="857891" y="759005"/>
                    <a:pt x="807384" y="779926"/>
                    <a:pt x="754720" y="779926"/>
                  </a:cubicBezTo>
                  <a:lnTo>
                    <a:pt x="198571" y="779926"/>
                  </a:lnTo>
                  <a:cubicBezTo>
                    <a:pt x="145907" y="779926"/>
                    <a:pt x="95399" y="759005"/>
                    <a:pt x="58160" y="721766"/>
                  </a:cubicBezTo>
                  <a:cubicBezTo>
                    <a:pt x="20921" y="684526"/>
                    <a:pt x="0" y="634019"/>
                    <a:pt x="0" y="581355"/>
                  </a:cubicBezTo>
                  <a:lnTo>
                    <a:pt x="0" y="198571"/>
                  </a:lnTo>
                  <a:cubicBezTo>
                    <a:pt x="0" y="145907"/>
                    <a:pt x="20921" y="95399"/>
                    <a:pt x="58160" y="58160"/>
                  </a:cubicBezTo>
                  <a:cubicBezTo>
                    <a:pt x="95399" y="20921"/>
                    <a:pt x="145907" y="0"/>
                    <a:pt x="198571" y="0"/>
                  </a:cubicBez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53291" cy="81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08042" y="6263742"/>
            <a:ext cx="3846476" cy="3146958"/>
            <a:chOff x="0" y="0"/>
            <a:chExt cx="953291" cy="7799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3291" cy="779926"/>
            </a:xfrm>
            <a:custGeom>
              <a:avLst/>
              <a:gdLst/>
              <a:ahLst/>
              <a:cxnLst/>
              <a:rect r="r" b="b" t="t" l="l"/>
              <a:pathLst>
                <a:path h="779926" w="953291">
                  <a:moveTo>
                    <a:pt x="201273" y="0"/>
                  </a:moveTo>
                  <a:lnTo>
                    <a:pt x="752018" y="0"/>
                  </a:lnTo>
                  <a:cubicBezTo>
                    <a:pt x="805399" y="0"/>
                    <a:pt x="856593" y="21205"/>
                    <a:pt x="894339" y="58952"/>
                  </a:cubicBezTo>
                  <a:cubicBezTo>
                    <a:pt x="932085" y="96698"/>
                    <a:pt x="953291" y="147892"/>
                    <a:pt x="953291" y="201273"/>
                  </a:cubicBezTo>
                  <a:lnTo>
                    <a:pt x="953291" y="578653"/>
                  </a:lnTo>
                  <a:cubicBezTo>
                    <a:pt x="953291" y="689813"/>
                    <a:pt x="863178" y="779926"/>
                    <a:pt x="752018" y="779926"/>
                  </a:cubicBezTo>
                  <a:lnTo>
                    <a:pt x="201273" y="779926"/>
                  </a:lnTo>
                  <a:cubicBezTo>
                    <a:pt x="90113" y="779926"/>
                    <a:pt x="0" y="689813"/>
                    <a:pt x="0" y="578653"/>
                  </a:cubicBezTo>
                  <a:lnTo>
                    <a:pt x="0" y="201273"/>
                  </a:lnTo>
                  <a:cubicBezTo>
                    <a:pt x="0" y="90113"/>
                    <a:pt x="90113" y="0"/>
                    <a:pt x="201273" y="0"/>
                  </a:cubicBez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53291" cy="818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49900" y="6507036"/>
            <a:ext cx="3240363" cy="265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4573" indent="-157287" lvl="1">
              <a:lnSpc>
                <a:spcPts val="2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5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Extraction des d</a:t>
            </a:r>
            <a:r>
              <a:rPr lang="en-US" b="true" sz="145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onnées </a:t>
            </a:r>
            <a:r>
              <a:rPr lang="en-US" sz="14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depuis le portail DataPortal INS (CSV, Excel, API).</a:t>
            </a:r>
          </a:p>
          <a:p>
            <a:pPr algn="l" marL="314573" indent="-157287" lvl="1">
              <a:lnSpc>
                <a:spcPts val="2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5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Vérification et validation des fichiers source</a:t>
            </a:r>
            <a:r>
              <a:rPr lang="en-US" sz="14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: cohérence, valeurs manquantes, structure.</a:t>
            </a:r>
          </a:p>
          <a:p>
            <a:pPr algn="l" marL="314573" indent="-157287" lvl="1">
              <a:lnSpc>
                <a:spcPts val="2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5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Documentation des sources :</a:t>
            </a:r>
            <a:r>
              <a:rPr lang="en-US" sz="14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date d’extraction, type de donnée, dictionnaire des champs.</a:t>
            </a:r>
          </a:p>
          <a:p>
            <a:pPr algn="l">
              <a:lnSpc>
                <a:spcPts val="1112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5353395" y="6594972"/>
            <a:ext cx="3647385" cy="2579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394" indent="-160197" lvl="1">
              <a:lnSpc>
                <a:spcPts val="207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8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Chargemen</a:t>
            </a:r>
            <a:r>
              <a:rPr lang="en-US" b="true" sz="148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 brut </a:t>
            </a:r>
            <a:r>
              <a:rPr lang="en-US" sz="14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(Raw Load) : importer les d</a:t>
            </a:r>
            <a:r>
              <a:rPr lang="en-US" sz="14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onnées INS sans transformation dans des tables temporaires.</a:t>
            </a:r>
          </a:p>
          <a:p>
            <a:pPr algn="l" marL="294067" indent="-147034" lvl="1">
              <a:lnSpc>
                <a:spcPts val="190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3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</a:t>
            </a:r>
            <a:r>
              <a:rPr lang="en-US" b="true" sz="13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toyage et normalisation</a:t>
            </a:r>
            <a:r>
              <a:rPr lang="en-US" sz="1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correction des types, uniformisation des noms, suppression des doublons.</a:t>
            </a:r>
          </a:p>
          <a:p>
            <a:pPr algn="l" marL="294067" indent="-147034" lvl="1">
              <a:lnSpc>
                <a:spcPts val="190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3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Préparation pour le Data Warehouse :</a:t>
            </a:r>
            <a:r>
              <a:rPr lang="en-US" sz="1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création des tables structurées prêtes à être chargées (staging clean).</a:t>
            </a:r>
          </a:p>
          <a:p>
            <a:pPr algn="l">
              <a:lnSpc>
                <a:spcPts val="1040"/>
              </a:lnSpc>
              <a:spcBef>
                <a:spcPct val="0"/>
              </a:spcBef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0011631" y="6938847"/>
            <a:ext cx="3392209" cy="1897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873" indent="-176936" lvl="1">
              <a:lnSpc>
                <a:spcPts val="22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Modélis</a:t>
            </a:r>
            <a:r>
              <a:rPr lang="en-US" b="true" sz="16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ation</a:t>
            </a:r>
            <a:r>
              <a:rPr lang="en-US" sz="16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création des dimensions et tables de faits.</a:t>
            </a:r>
          </a:p>
          <a:p>
            <a:pPr algn="l" marL="353873" indent="-176936" lvl="1">
              <a:lnSpc>
                <a:spcPts val="229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Charge</a:t>
            </a:r>
            <a:r>
              <a:rPr lang="en-US" b="true" sz="163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 périodique </a:t>
            </a:r>
            <a:r>
              <a:rPr lang="en-US" sz="16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via SSIS : insertion des données transformées avec clés primaires/étrangères.</a:t>
            </a:r>
          </a:p>
          <a:p>
            <a:pPr algn="l">
              <a:lnSpc>
                <a:spcPts val="1324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4486178" y="6678915"/>
            <a:ext cx="3132325" cy="2316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4085" indent="-152043" lvl="1">
              <a:lnSpc>
                <a:spcPts val="197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14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onnexion au Data Warehouse</a:t>
            </a:r>
            <a:r>
              <a:rPr lang="en-US" sz="14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(DirectQuery ou Import).</a:t>
            </a:r>
          </a:p>
          <a:p>
            <a:pPr algn="l" marL="304085" indent="-152043" lvl="1">
              <a:lnSpc>
                <a:spcPts val="197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14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réation des KPI, cartes, graphiques, maps</a:t>
            </a:r>
            <a:r>
              <a:rPr lang="en-US" sz="14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pour Éducation, Emploi, Migration.</a:t>
            </a:r>
          </a:p>
          <a:p>
            <a:pPr algn="l" marL="304085" indent="-152043" lvl="1">
              <a:lnSpc>
                <a:spcPts val="197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Mise </a:t>
            </a:r>
            <a:r>
              <a:rPr lang="en-US" b="true" sz="14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 place des filtres interactifs </a:t>
            </a:r>
            <a:r>
              <a:rPr lang="en-US" sz="140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région, district, tranche d’âge, genre, milieu, année.</a:t>
            </a:r>
          </a:p>
          <a:p>
            <a:pPr algn="l">
              <a:lnSpc>
                <a:spcPts val="107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9932" y="4194324"/>
            <a:ext cx="9740192" cy="5371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010" indent="-245005" lvl="1">
              <a:lnSpc>
                <a:spcPts val="3881"/>
              </a:lnSpc>
              <a:buFont typeface="Arial"/>
              <a:buChar char="•"/>
            </a:pPr>
            <a:r>
              <a:rPr lang="en-US" b="true" sz="2269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Visualiser les taux de scolarisation</a:t>
            </a:r>
            <a:r>
              <a:rPr lang="en-US" sz="226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 par gouvernorat, délégation/district (Nord/Centre/Sud), genre, milieu (urbain/rural) et niveau d’instruction (primaire/secondaire/supérieur).</a:t>
            </a:r>
          </a:p>
          <a:p>
            <a:pPr algn="l" marL="490010" indent="-245005" lvl="1">
              <a:lnSpc>
                <a:spcPts val="3881"/>
              </a:lnSpc>
              <a:buFont typeface="Arial"/>
              <a:buChar char="•"/>
            </a:pPr>
            <a:r>
              <a:rPr lang="en-US" b="true" sz="2269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Identifier les zones et populations à risque</a:t>
            </a:r>
            <a:r>
              <a:rPr lang="en-US" sz="226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 : délégations/âges/genres/secteurs avec taux de chômage élevé.</a:t>
            </a:r>
          </a:p>
          <a:p>
            <a:pPr algn="l" marL="490010" indent="-245005" lvl="1">
              <a:lnSpc>
                <a:spcPts val="3881"/>
              </a:lnSpc>
              <a:buFont typeface="Arial"/>
              <a:buChar char="•"/>
            </a:pPr>
            <a:r>
              <a:rPr lang="en-US" b="true" sz="2269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Cartographier la migration</a:t>
            </a:r>
            <a:r>
              <a:rPr lang="en-US" sz="226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 : nombre de migrants par délégation, motifs (emploi, études, mariage...), âge, genre, milieu.</a:t>
            </a:r>
          </a:p>
          <a:p>
            <a:pPr algn="l" marL="490010" indent="-245005" lvl="1">
              <a:lnSpc>
                <a:spcPts val="3881"/>
              </a:lnSpc>
              <a:buFont typeface="Arial"/>
              <a:buChar char="•"/>
            </a:pPr>
            <a:r>
              <a:rPr lang="en-US" b="true" sz="2269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Filtrer dynamiquement </a:t>
            </a:r>
            <a:r>
              <a:rPr lang="en-US" sz="226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: drill-down  ( Distrect → Region → gouvernorat → délégation ), et slices par genre, âge, milieu.</a:t>
            </a:r>
          </a:p>
          <a:p>
            <a:pPr algn="l">
              <a:lnSpc>
                <a:spcPts val="3881"/>
              </a:lnSpc>
            </a:pPr>
          </a:p>
          <a:p>
            <a:pPr algn="l">
              <a:lnSpc>
                <a:spcPts val="388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752239" y="-196191"/>
            <a:ext cx="2870338" cy="4902751"/>
          </a:xfrm>
          <a:custGeom>
            <a:avLst/>
            <a:gdLst/>
            <a:ahLst/>
            <a:cxnLst/>
            <a:rect r="r" b="b" t="t" l="l"/>
            <a:pathLst>
              <a:path h="4902751" w="2870338">
                <a:moveTo>
                  <a:pt x="0" y="0"/>
                </a:moveTo>
                <a:lnTo>
                  <a:pt x="2870337" y="0"/>
                </a:lnTo>
                <a:lnTo>
                  <a:pt x="2870337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96361" y="4706560"/>
            <a:ext cx="5511729" cy="3868232"/>
          </a:xfrm>
          <a:custGeom>
            <a:avLst/>
            <a:gdLst/>
            <a:ahLst/>
            <a:cxnLst/>
            <a:rect r="r" b="b" t="t" l="l"/>
            <a:pathLst>
              <a:path h="3868232" w="5511729">
                <a:moveTo>
                  <a:pt x="0" y="0"/>
                </a:moveTo>
                <a:lnTo>
                  <a:pt x="5511729" y="0"/>
                </a:lnTo>
                <a:lnTo>
                  <a:pt x="5511729" y="3868231"/>
                </a:lnTo>
                <a:lnTo>
                  <a:pt x="0" y="3868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26823" y="1299432"/>
            <a:ext cx="3841974" cy="4902751"/>
          </a:xfrm>
          <a:custGeom>
            <a:avLst/>
            <a:gdLst/>
            <a:ahLst/>
            <a:cxnLst/>
            <a:rect r="r" b="b" t="t" l="l"/>
            <a:pathLst>
              <a:path h="4902751" w="3841974">
                <a:moveTo>
                  <a:pt x="0" y="0"/>
                </a:moveTo>
                <a:lnTo>
                  <a:pt x="3841975" y="0"/>
                </a:lnTo>
                <a:lnTo>
                  <a:pt x="3841975" y="4902752"/>
                </a:lnTo>
                <a:lnTo>
                  <a:pt x="0" y="4902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08719" y="7084606"/>
            <a:ext cx="7574475" cy="4902751"/>
          </a:xfrm>
          <a:custGeom>
            <a:avLst/>
            <a:gdLst/>
            <a:ahLst/>
            <a:cxnLst/>
            <a:rect r="r" b="b" t="t" l="l"/>
            <a:pathLst>
              <a:path h="4902751" w="7574475">
                <a:moveTo>
                  <a:pt x="0" y="0"/>
                </a:moveTo>
                <a:lnTo>
                  <a:pt x="7574475" y="0"/>
                </a:lnTo>
                <a:lnTo>
                  <a:pt x="7574475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8151940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87370" y="1371600"/>
            <a:ext cx="8521412" cy="26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Besoins Fonctionnels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20739"/>
            <a:ext cx="9573871" cy="513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529" indent="-238264" lvl="1">
              <a:lnSpc>
                <a:spcPts val="3774"/>
              </a:lnSpc>
              <a:buFont typeface="Arial"/>
              <a:buChar char="•"/>
            </a:pPr>
            <a:r>
              <a:rPr lang="en-US" b="true" sz="2207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Fiabilité </a:t>
            </a:r>
            <a:r>
              <a:rPr lang="en-US" sz="2207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: assurer la cohérence et la qualité des informations affichées. </a:t>
            </a:r>
          </a:p>
          <a:p>
            <a:pPr algn="l" marL="476529" indent="-238264" lvl="1">
              <a:lnSpc>
                <a:spcPts val="3774"/>
              </a:lnSpc>
              <a:buFont typeface="Arial"/>
              <a:buChar char="•"/>
            </a:pPr>
            <a:r>
              <a:rPr lang="en-US" b="true" sz="2207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Évolutivité</a:t>
            </a:r>
            <a:r>
              <a:rPr lang="en-US" sz="2207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 : permettre l’ajout de nouvelles données ou indicateurs sans modification majeure. </a:t>
            </a:r>
          </a:p>
          <a:p>
            <a:pPr algn="l" marL="476529" indent="-238264" lvl="1">
              <a:lnSpc>
                <a:spcPts val="3774"/>
              </a:lnSpc>
              <a:buFont typeface="Arial"/>
              <a:buChar char="•"/>
            </a:pPr>
            <a:r>
              <a:rPr lang="en-US" b="true" sz="2207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Accessibilité </a:t>
            </a:r>
            <a:r>
              <a:rPr lang="en-US" sz="2207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: offrir une interface claire, intuitive et accessible sur plusieurs supports. </a:t>
            </a:r>
          </a:p>
          <a:p>
            <a:pPr algn="l" marL="476529" indent="-238264" lvl="1">
              <a:lnSpc>
                <a:spcPts val="3774"/>
              </a:lnSpc>
              <a:buFont typeface="Arial"/>
              <a:buChar char="•"/>
            </a:pPr>
            <a:r>
              <a:rPr lang="en-US" sz="2207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b="true" sz="2207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Mise à jour :</a:t>
            </a:r>
            <a:r>
              <a:rPr lang="en-US" sz="2207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 permettre l’actualisation régulière des données du portail INS. </a:t>
            </a:r>
          </a:p>
          <a:p>
            <a:pPr algn="l" marL="476529" indent="-238264" lvl="1">
              <a:lnSpc>
                <a:spcPts val="3774"/>
              </a:lnSpc>
              <a:buFont typeface="Arial"/>
              <a:buChar char="•"/>
            </a:pPr>
            <a:r>
              <a:rPr lang="en-US" b="true" sz="2207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Qualité :</a:t>
            </a:r>
            <a:r>
              <a:rPr lang="en-US" sz="2207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 veiller à la précision, la cohérence et la propreté des données. </a:t>
            </a:r>
          </a:p>
          <a:p>
            <a:pPr algn="l" marL="476529" indent="-238264" lvl="1">
              <a:lnSpc>
                <a:spcPts val="3774"/>
              </a:lnSpc>
              <a:buFont typeface="Arial"/>
              <a:buChar char="•"/>
            </a:pPr>
            <a:r>
              <a:rPr lang="en-US" b="true" sz="2207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Traçabilité </a:t>
            </a:r>
            <a:r>
              <a:rPr lang="en-US" sz="2207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: conserver un historique des opérations d’intégration et des mises à jour.</a:t>
            </a:r>
          </a:p>
          <a:p>
            <a:pPr algn="l">
              <a:lnSpc>
                <a:spcPts val="3774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752239" y="-196191"/>
            <a:ext cx="2870338" cy="4902751"/>
          </a:xfrm>
          <a:custGeom>
            <a:avLst/>
            <a:gdLst/>
            <a:ahLst/>
            <a:cxnLst/>
            <a:rect r="r" b="b" t="t" l="l"/>
            <a:pathLst>
              <a:path h="4902751" w="2870338">
                <a:moveTo>
                  <a:pt x="0" y="0"/>
                </a:moveTo>
                <a:lnTo>
                  <a:pt x="2870337" y="0"/>
                </a:lnTo>
                <a:lnTo>
                  <a:pt x="2870337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96361" y="4706560"/>
            <a:ext cx="5511729" cy="3868232"/>
          </a:xfrm>
          <a:custGeom>
            <a:avLst/>
            <a:gdLst/>
            <a:ahLst/>
            <a:cxnLst/>
            <a:rect r="r" b="b" t="t" l="l"/>
            <a:pathLst>
              <a:path h="3868232" w="5511729">
                <a:moveTo>
                  <a:pt x="0" y="0"/>
                </a:moveTo>
                <a:lnTo>
                  <a:pt x="5511729" y="0"/>
                </a:lnTo>
                <a:lnTo>
                  <a:pt x="5511729" y="3868231"/>
                </a:lnTo>
                <a:lnTo>
                  <a:pt x="0" y="3868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26823" y="1299432"/>
            <a:ext cx="3841974" cy="4902751"/>
          </a:xfrm>
          <a:custGeom>
            <a:avLst/>
            <a:gdLst/>
            <a:ahLst/>
            <a:cxnLst/>
            <a:rect r="r" b="b" t="t" l="l"/>
            <a:pathLst>
              <a:path h="4902751" w="3841974">
                <a:moveTo>
                  <a:pt x="0" y="0"/>
                </a:moveTo>
                <a:lnTo>
                  <a:pt x="3841975" y="0"/>
                </a:lnTo>
                <a:lnTo>
                  <a:pt x="3841975" y="4902752"/>
                </a:lnTo>
                <a:lnTo>
                  <a:pt x="0" y="4902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08719" y="7084606"/>
            <a:ext cx="7574475" cy="4902751"/>
          </a:xfrm>
          <a:custGeom>
            <a:avLst/>
            <a:gdLst/>
            <a:ahLst/>
            <a:cxnLst/>
            <a:rect r="r" b="b" t="t" l="l"/>
            <a:pathLst>
              <a:path h="4902751" w="7574475">
                <a:moveTo>
                  <a:pt x="0" y="0"/>
                </a:moveTo>
                <a:lnTo>
                  <a:pt x="7574475" y="0"/>
                </a:lnTo>
                <a:lnTo>
                  <a:pt x="7574475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8151940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87370" y="1371600"/>
            <a:ext cx="8521412" cy="26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Besoins Non Fonctionnels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63884" y="4921023"/>
            <a:ext cx="7843459" cy="4337277"/>
          </a:xfrm>
          <a:custGeom>
            <a:avLst/>
            <a:gdLst/>
            <a:ahLst/>
            <a:cxnLst/>
            <a:rect r="r" b="b" t="t" l="l"/>
            <a:pathLst>
              <a:path h="4337277" w="7843459">
                <a:moveTo>
                  <a:pt x="0" y="0"/>
                </a:moveTo>
                <a:lnTo>
                  <a:pt x="7843460" y="0"/>
                </a:lnTo>
                <a:lnTo>
                  <a:pt x="7843460" y="4337277"/>
                </a:lnTo>
                <a:lnTo>
                  <a:pt x="0" y="4337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4799" y="85725"/>
            <a:ext cx="16231574" cy="328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5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Modélisation Multidimensionnelle (DM)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9530" y="3307851"/>
            <a:ext cx="904770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89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Méthodol</a:t>
            </a:r>
            <a:r>
              <a:rPr lang="en-US" b="true" sz="3000" spc="-189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ogie : Top-Down — Kimball ( Constelation Schema 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6184" y="3818563"/>
            <a:ext cx="8274402" cy="65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7"/>
              </a:lnSpc>
            </a:pPr>
            <a:r>
              <a:rPr lang="en-US" b="true" sz="2190" spc="-138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Tables de faits :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Fait_Éducati</a:t>
            </a: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on ()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Fait Instruction () 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Fait_Emploi ()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FactEmploiTrancheAge()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FactEmp SecteurActivite() 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Fait_MigrationInterne ()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Fait_MigrationExterne()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  <a:r>
              <a:rPr lang="en-US" b="true" sz="2190" spc="-138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Tables de dimensions :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Dim_Geo (gouvernorat, délégation, district)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Dim_Sexe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Dim_Milieu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Dim_Age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Dim_NiveauInstruction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Dim_SecteurActivité</a:t>
            </a:r>
          </a:p>
          <a:p>
            <a:pPr algn="just" marL="473000" indent="-236500" lvl="1">
              <a:lnSpc>
                <a:spcPts val="3067"/>
              </a:lnSpc>
              <a:spcBef>
                <a:spcPct val="0"/>
              </a:spcBef>
              <a:buFont typeface="Arial"/>
              <a:buChar char="•"/>
            </a:pPr>
            <a:r>
              <a:rPr lang="en-US" sz="2190" spc="-13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Dim_RaisonMigration</a:t>
            </a:r>
          </a:p>
          <a:p>
            <a:pPr algn="just">
              <a:lnSpc>
                <a:spcPts val="3067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532135" y="-1934116"/>
            <a:ext cx="5511729" cy="3868232"/>
          </a:xfrm>
          <a:custGeom>
            <a:avLst/>
            <a:gdLst/>
            <a:ahLst/>
            <a:cxnLst/>
            <a:rect r="r" b="b" t="t" l="l"/>
            <a:pathLst>
              <a:path h="3868232" w="5511729">
                <a:moveTo>
                  <a:pt x="0" y="0"/>
                </a:moveTo>
                <a:lnTo>
                  <a:pt x="5511730" y="0"/>
                </a:lnTo>
                <a:lnTo>
                  <a:pt x="5511730" y="3868232"/>
                </a:lnTo>
                <a:lnTo>
                  <a:pt x="0" y="38682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4799" y="420524"/>
            <a:ext cx="16231574" cy="166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5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Clés et Mesures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228" y="1863471"/>
            <a:ext cx="6137337" cy="7890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499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Clés Primaires :</a:t>
            </a:r>
          </a:p>
          <a:p>
            <a:pPr algn="l" marL="539748" indent="-269874" lvl="1">
              <a:lnSpc>
                <a:spcPts val="4274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id_geo, id_sexe, id_age, ...</a:t>
            </a:r>
          </a:p>
          <a:p>
            <a:pPr algn="l">
              <a:lnSpc>
                <a:spcPts val="4274"/>
              </a:lnSpc>
            </a:pPr>
            <a:r>
              <a:rPr lang="en-US" sz="249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Clés Étrangères :</a:t>
            </a:r>
          </a:p>
          <a:p>
            <a:pPr algn="l" marL="539748" indent="-269874" lvl="1">
              <a:lnSpc>
                <a:spcPts val="4274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FK dans chaque table de faits vers dimensions</a:t>
            </a:r>
          </a:p>
          <a:p>
            <a:pPr algn="l">
              <a:lnSpc>
                <a:spcPts val="4274"/>
              </a:lnSpc>
            </a:pPr>
            <a:r>
              <a:rPr lang="en-US" sz="2499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Mesures :</a:t>
            </a:r>
          </a:p>
          <a:p>
            <a:pPr algn="l">
              <a:lnSpc>
                <a:spcPts val="4274"/>
              </a:lnSpc>
            </a:pPr>
            <a:r>
              <a:rPr lang="en-US" sz="249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Éducation :</a:t>
            </a:r>
          </a:p>
          <a:p>
            <a:pPr algn="l" marL="539748" indent="-269874" lvl="1">
              <a:lnSpc>
                <a:spcPts val="4274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Taux de scolarisation</a:t>
            </a:r>
          </a:p>
          <a:p>
            <a:pPr algn="l">
              <a:lnSpc>
                <a:spcPts val="4274"/>
              </a:lnSpc>
            </a:pPr>
            <a:r>
              <a:rPr lang="en-US" sz="249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Emploi :</a:t>
            </a:r>
          </a:p>
          <a:p>
            <a:pPr algn="l" marL="539748" indent="-269874" lvl="1">
              <a:lnSpc>
                <a:spcPts val="4274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Taux de chômage</a:t>
            </a:r>
          </a:p>
          <a:p>
            <a:pPr algn="l" marL="539748" indent="-269874" lvl="1">
              <a:lnSpc>
                <a:spcPts val="4274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taux de activite</a:t>
            </a:r>
          </a:p>
          <a:p>
            <a:pPr algn="l">
              <a:lnSpc>
                <a:spcPts val="4274"/>
              </a:lnSpc>
            </a:pPr>
            <a:r>
              <a:rPr lang="en-US" sz="249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Migration :</a:t>
            </a:r>
          </a:p>
          <a:p>
            <a:pPr algn="l" marL="539748" indent="-269874" lvl="1">
              <a:lnSpc>
                <a:spcPts val="4274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Nombre total migrants/imigrants</a:t>
            </a:r>
          </a:p>
          <a:p>
            <a:pPr algn="l" marL="539748" indent="-269874" lvl="1">
              <a:lnSpc>
                <a:spcPts val="4274"/>
              </a:lnSpc>
              <a:buFont typeface="Arial"/>
              <a:buChar char="•"/>
            </a:pPr>
            <a:r>
              <a:rPr lang="en-US" sz="2499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Nombre total migrants(sortant/entrant)</a:t>
            </a:r>
          </a:p>
          <a:p>
            <a:pPr algn="l">
              <a:lnSpc>
                <a:spcPts val="359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475969" y="-1915333"/>
            <a:ext cx="2870338" cy="4902751"/>
          </a:xfrm>
          <a:custGeom>
            <a:avLst/>
            <a:gdLst/>
            <a:ahLst/>
            <a:cxnLst/>
            <a:rect r="r" b="b" t="t" l="l"/>
            <a:pathLst>
              <a:path h="4902751" w="2870338">
                <a:moveTo>
                  <a:pt x="0" y="0"/>
                </a:moveTo>
                <a:lnTo>
                  <a:pt x="2870337" y="0"/>
                </a:lnTo>
                <a:lnTo>
                  <a:pt x="2870337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803948" y="8279412"/>
            <a:ext cx="7574475" cy="4902751"/>
          </a:xfrm>
          <a:custGeom>
            <a:avLst/>
            <a:gdLst/>
            <a:ahLst/>
            <a:cxnLst/>
            <a:rect r="r" b="b" t="t" l="l"/>
            <a:pathLst>
              <a:path h="4902751" w="7574475">
                <a:moveTo>
                  <a:pt x="0" y="0"/>
                </a:moveTo>
                <a:lnTo>
                  <a:pt x="7574475" y="0"/>
                </a:lnTo>
                <a:lnTo>
                  <a:pt x="7574475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08071" y="2581828"/>
            <a:ext cx="10762526" cy="6163851"/>
          </a:xfrm>
          <a:custGeom>
            <a:avLst/>
            <a:gdLst/>
            <a:ahLst/>
            <a:cxnLst/>
            <a:rect r="r" b="b" t="t" l="l"/>
            <a:pathLst>
              <a:path h="6163851" w="10762526">
                <a:moveTo>
                  <a:pt x="0" y="0"/>
                </a:moveTo>
                <a:lnTo>
                  <a:pt x="10762526" y="0"/>
                </a:lnTo>
                <a:lnTo>
                  <a:pt x="10762526" y="6163851"/>
                </a:lnTo>
                <a:lnTo>
                  <a:pt x="0" y="6163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011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28565" y="2032925"/>
            <a:ext cx="1249755" cy="43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7"/>
              </a:lnSpc>
              <a:spcBef>
                <a:spcPct val="0"/>
              </a:spcBef>
            </a:pPr>
            <a:r>
              <a:rPr lang="en-US" b="true" sz="2569" spc="-16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exemple: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6503" y="2848515"/>
            <a:ext cx="7577497" cy="667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Rôle principal : zone intermédiaire pour recevoir les données brutes avant transformation.</a:t>
            </a:r>
          </a:p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Objectifs :</a:t>
            </a:r>
          </a:p>
          <a:p>
            <a:pPr algn="l" marL="453390" indent="-226695" lvl="1">
              <a:lnSpc>
                <a:spcPts val="3590"/>
              </a:lnSpc>
              <a:buAutoNum type="arabicPeriod" startAt="1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Charger les données issues de l’INS sans modifications majeures.</a:t>
            </a:r>
          </a:p>
          <a:p>
            <a:pPr algn="l" marL="453390" indent="-226695" lvl="1">
              <a:lnSpc>
                <a:spcPts val="3590"/>
              </a:lnSpc>
              <a:buAutoNum type="arabicPeriod" startAt="1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Vérifier la qualité des données : cohérence, type, doublons.</a:t>
            </a:r>
          </a:p>
          <a:p>
            <a:pPr algn="l" marL="453390" indent="-226695" lvl="1">
              <a:lnSpc>
                <a:spcPts val="3590"/>
              </a:lnSpc>
              <a:buAutoNum type="arabicPeriod" startAt="1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Normaliser les formats (dates, texte, codes) pour préparer le chargement dans le Data Warehouse.</a:t>
            </a:r>
          </a:p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Avantages :</a:t>
            </a:r>
          </a:p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Permet de détecter les erreurs avant d’affecter l’entrepôt.</a:t>
            </a:r>
          </a:p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Centralise toutes les données sources.</a:t>
            </a:r>
          </a:p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Structure typique : tables temporaires ou staging tables correspondant aux sources INS (Éducation, Emploi, Migration).</a:t>
            </a:r>
          </a:p>
          <a:p>
            <a:pPr algn="l">
              <a:lnSpc>
                <a:spcPts val="359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680858" y="-2285849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7" y="0"/>
                </a:lnTo>
                <a:lnTo>
                  <a:pt x="4106217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69712" y="-1452323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84003" y="9531521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7" y="0"/>
                </a:lnTo>
                <a:lnTo>
                  <a:pt x="3341497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15544" y="4422712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90134" y="9258300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0" y="0"/>
                </a:lnTo>
                <a:lnTo>
                  <a:pt x="4100910" y="2878093"/>
                </a:lnTo>
                <a:lnTo>
                  <a:pt x="0" y="28780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934" y="3001566"/>
            <a:ext cx="6018555" cy="3231754"/>
          </a:xfrm>
          <a:custGeom>
            <a:avLst/>
            <a:gdLst/>
            <a:ahLst/>
            <a:cxnLst/>
            <a:rect r="r" b="b" t="t" l="l"/>
            <a:pathLst>
              <a:path h="3231754" w="6018555">
                <a:moveTo>
                  <a:pt x="0" y="0"/>
                </a:moveTo>
                <a:lnTo>
                  <a:pt x="6018555" y="0"/>
                </a:lnTo>
                <a:lnTo>
                  <a:pt x="6018555" y="3231753"/>
                </a:lnTo>
                <a:lnTo>
                  <a:pt x="0" y="32317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25006" y="6680994"/>
            <a:ext cx="7671779" cy="2543037"/>
          </a:xfrm>
          <a:custGeom>
            <a:avLst/>
            <a:gdLst/>
            <a:ahLst/>
            <a:cxnLst/>
            <a:rect r="r" b="b" t="t" l="l"/>
            <a:pathLst>
              <a:path h="2543037" w="7671779">
                <a:moveTo>
                  <a:pt x="0" y="0"/>
                </a:moveTo>
                <a:lnTo>
                  <a:pt x="7671779" y="0"/>
                </a:lnTo>
                <a:lnTo>
                  <a:pt x="7671779" y="2543037"/>
                </a:lnTo>
                <a:lnTo>
                  <a:pt x="0" y="254303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3639" y="240788"/>
            <a:ext cx="7624071" cy="26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Staging Area (SA)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934" y="2694560"/>
            <a:ext cx="139124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500" spc="-94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Exemple Education</a:t>
            </a:r>
          </a:p>
          <a:p>
            <a:pPr algn="ctr">
              <a:lnSpc>
                <a:spcPts val="16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0653" y="-3542999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7" y="0"/>
                </a:lnTo>
                <a:lnTo>
                  <a:pt x="4106217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69712" y="-1452323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84003" y="9531521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7" y="0"/>
                </a:lnTo>
                <a:lnTo>
                  <a:pt x="3341497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15544" y="4422712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3153" y="8939277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0" y="0"/>
                </a:lnTo>
                <a:lnTo>
                  <a:pt x="4100910" y="2878093"/>
                </a:lnTo>
                <a:lnTo>
                  <a:pt x="0" y="28780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40653" y="5771189"/>
            <a:ext cx="5899990" cy="3168088"/>
          </a:xfrm>
          <a:custGeom>
            <a:avLst/>
            <a:gdLst/>
            <a:ahLst/>
            <a:cxnLst/>
            <a:rect r="r" b="b" t="t" l="l"/>
            <a:pathLst>
              <a:path h="3168088" w="5899990">
                <a:moveTo>
                  <a:pt x="0" y="0"/>
                </a:moveTo>
                <a:lnTo>
                  <a:pt x="5899990" y="0"/>
                </a:lnTo>
                <a:lnTo>
                  <a:pt x="5899990" y="3168088"/>
                </a:lnTo>
                <a:lnTo>
                  <a:pt x="0" y="31680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58569" y="607016"/>
            <a:ext cx="10368481" cy="4802681"/>
          </a:xfrm>
          <a:custGeom>
            <a:avLst/>
            <a:gdLst/>
            <a:ahLst/>
            <a:cxnLst/>
            <a:rect r="r" b="b" t="t" l="l"/>
            <a:pathLst>
              <a:path h="4802681" w="10368481">
                <a:moveTo>
                  <a:pt x="0" y="0"/>
                </a:moveTo>
                <a:lnTo>
                  <a:pt x="10368481" y="0"/>
                </a:lnTo>
                <a:lnTo>
                  <a:pt x="10368481" y="4802681"/>
                </a:lnTo>
                <a:lnTo>
                  <a:pt x="0" y="48026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5367" t="-9125" r="-3629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84897" y="5771189"/>
            <a:ext cx="6915826" cy="3560637"/>
          </a:xfrm>
          <a:custGeom>
            <a:avLst/>
            <a:gdLst/>
            <a:ahLst/>
            <a:cxnLst/>
            <a:rect r="r" b="b" t="t" l="l"/>
            <a:pathLst>
              <a:path h="3560637" w="6915826">
                <a:moveTo>
                  <a:pt x="0" y="0"/>
                </a:moveTo>
                <a:lnTo>
                  <a:pt x="6915825" y="0"/>
                </a:lnTo>
                <a:lnTo>
                  <a:pt x="6915825" y="3560636"/>
                </a:lnTo>
                <a:lnTo>
                  <a:pt x="0" y="35606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2054" t="-63417" r="-1494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19929" y="1710147"/>
            <a:ext cx="7624071" cy="140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ETL SSIS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40653" y="3174871"/>
            <a:ext cx="6658997" cy="1749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Extraction depuis INS (CSV/Excel/API)</a:t>
            </a:r>
          </a:p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Transformation : nettoyage, typage, mapping</a:t>
            </a:r>
          </a:p>
          <a:p>
            <a:pPr algn="l" marL="453390" indent="-226695" lvl="1">
              <a:lnSpc>
                <a:spcPts val="3590"/>
              </a:lnSpc>
              <a:buFont typeface="Arial"/>
              <a:buChar char="•"/>
            </a:pPr>
            <a:r>
              <a:rPr lang="en-US" sz="21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Chargement dans SA puis DW</a:t>
            </a:r>
          </a:p>
          <a:p>
            <a:pPr algn="l">
              <a:lnSpc>
                <a:spcPts val="359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40653" y="4981575"/>
            <a:ext cx="354211" cy="137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9"/>
              </a:lnSpc>
              <a:spcBef>
                <a:spcPct val="0"/>
              </a:spcBef>
            </a:pPr>
            <a:r>
              <a:rPr lang="en-US" b="true" sz="8014" spc="-504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78854" y="-162740"/>
            <a:ext cx="546646" cy="137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9"/>
              </a:lnSpc>
              <a:spcBef>
                <a:spcPct val="0"/>
              </a:spcBef>
            </a:pPr>
            <a:r>
              <a:rPr lang="en-US" b="true" sz="8014" spc="-504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34022" y="5303407"/>
            <a:ext cx="533400" cy="137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9"/>
              </a:lnSpc>
              <a:spcBef>
                <a:spcPct val="0"/>
              </a:spcBef>
            </a:pPr>
            <a:r>
              <a:rPr lang="en-US" b="true" sz="8014" spc="-504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771987" y="9006250"/>
            <a:ext cx="1274443" cy="127444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-1951016" y="3757380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5" y="0"/>
                </a:lnTo>
                <a:lnTo>
                  <a:pt x="65032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4528" y="248254"/>
            <a:ext cx="2814723" cy="4539876"/>
          </a:xfrm>
          <a:custGeom>
            <a:avLst/>
            <a:gdLst/>
            <a:ahLst/>
            <a:cxnLst/>
            <a:rect r="r" b="b" t="t" l="l"/>
            <a:pathLst>
              <a:path h="4539876" w="2814723">
                <a:moveTo>
                  <a:pt x="0" y="0"/>
                </a:moveTo>
                <a:lnTo>
                  <a:pt x="2814723" y="0"/>
                </a:lnTo>
                <a:lnTo>
                  <a:pt x="2814723" y="4539876"/>
                </a:lnTo>
                <a:lnTo>
                  <a:pt x="0" y="45398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83277" y="7119033"/>
            <a:ext cx="4510398" cy="2903056"/>
          </a:xfrm>
          <a:custGeom>
            <a:avLst/>
            <a:gdLst/>
            <a:ahLst/>
            <a:cxnLst/>
            <a:rect r="r" b="b" t="t" l="l"/>
            <a:pathLst>
              <a:path h="2903056" w="4510398">
                <a:moveTo>
                  <a:pt x="0" y="0"/>
                </a:moveTo>
                <a:lnTo>
                  <a:pt x="4510398" y="0"/>
                </a:lnTo>
                <a:lnTo>
                  <a:pt x="4510398" y="2903056"/>
                </a:lnTo>
                <a:lnTo>
                  <a:pt x="0" y="2903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79107" y="7684128"/>
            <a:ext cx="1900289" cy="4114800"/>
          </a:xfrm>
          <a:custGeom>
            <a:avLst/>
            <a:gdLst/>
            <a:ahLst/>
            <a:cxnLst/>
            <a:rect r="r" b="b" t="t" l="l"/>
            <a:pathLst>
              <a:path h="4114800" w="1900289">
                <a:moveTo>
                  <a:pt x="0" y="0"/>
                </a:moveTo>
                <a:lnTo>
                  <a:pt x="1900289" y="0"/>
                </a:lnTo>
                <a:lnTo>
                  <a:pt x="1900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52259" y="3151915"/>
            <a:ext cx="13192550" cy="56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111" indent="-356055" lvl="1">
              <a:lnSpc>
                <a:spcPts val="5640"/>
              </a:lnSpc>
              <a:buFont typeface="Arial"/>
              <a:buChar char="•"/>
            </a:pPr>
            <a:r>
              <a:rPr lang="en-US" sz="329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Mesurent la répartition de la population selon les caractéristiques sociales :</a:t>
            </a:r>
          </a:p>
          <a:p>
            <a:pPr algn="l" marL="712111" indent="-356055" lvl="1">
              <a:lnSpc>
                <a:spcPts val="5640"/>
              </a:lnSpc>
              <a:buFont typeface="Arial"/>
              <a:buChar char="•"/>
            </a:pPr>
            <a:r>
              <a:rPr lang="en-US" sz="329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Par nive</a:t>
            </a:r>
            <a:r>
              <a:rPr lang="en-US" sz="329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au d’instruction ,Par sexe ,Par milieu,Par région / district / gouvernorat</a:t>
            </a:r>
          </a:p>
          <a:p>
            <a:pPr algn="l" marL="712111" indent="-356055" lvl="1">
              <a:lnSpc>
                <a:spcPts val="5640"/>
              </a:lnSpc>
              <a:buFont typeface="Arial"/>
              <a:buChar char="•"/>
            </a:pPr>
            <a:r>
              <a:rPr lang="en-US" sz="329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Mesurent la s</a:t>
            </a:r>
            <a:r>
              <a:rPr lang="en-US" sz="329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colarisation de la population :</a:t>
            </a:r>
          </a:p>
          <a:p>
            <a:pPr algn="l" marL="712111" indent="-356055" lvl="1">
              <a:lnSpc>
                <a:spcPts val="5640"/>
              </a:lnSpc>
              <a:buFont typeface="Arial"/>
              <a:buChar char="•"/>
            </a:pPr>
            <a:r>
              <a:rPr lang="en-US" sz="329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Taux de scolarisation</a:t>
            </a:r>
          </a:p>
          <a:p>
            <a:pPr algn="l" marL="712111" indent="-356055" lvl="1">
              <a:lnSpc>
                <a:spcPts val="5640"/>
              </a:lnSpc>
              <a:buFont typeface="Arial"/>
              <a:buChar char="•"/>
            </a:pPr>
            <a:r>
              <a:rPr lang="en-US" sz="3298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Population scolarisée par âge, Par sexe, milieu, région / district / gouvernorat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40185" y="1605713"/>
            <a:ext cx="9215694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31"/>
              </a:lnSpc>
            </a:pPr>
            <a:r>
              <a:rPr lang="en-US" b="true" sz="11513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KPI Éducation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357527" y="9006250"/>
            <a:ext cx="1274443" cy="1274443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23375" y="9006250"/>
            <a:ext cx="1274443" cy="12744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771987" y="9006250"/>
            <a:ext cx="1274443" cy="127444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-1951016" y="3757380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5" y="0"/>
                </a:lnTo>
                <a:lnTo>
                  <a:pt x="65032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4528" y="248254"/>
            <a:ext cx="2814723" cy="4539876"/>
          </a:xfrm>
          <a:custGeom>
            <a:avLst/>
            <a:gdLst/>
            <a:ahLst/>
            <a:cxnLst/>
            <a:rect r="r" b="b" t="t" l="l"/>
            <a:pathLst>
              <a:path h="4539876" w="2814723">
                <a:moveTo>
                  <a:pt x="0" y="0"/>
                </a:moveTo>
                <a:lnTo>
                  <a:pt x="2814723" y="0"/>
                </a:lnTo>
                <a:lnTo>
                  <a:pt x="2814723" y="4539876"/>
                </a:lnTo>
                <a:lnTo>
                  <a:pt x="0" y="45398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83277" y="7119033"/>
            <a:ext cx="4510398" cy="2903056"/>
          </a:xfrm>
          <a:custGeom>
            <a:avLst/>
            <a:gdLst/>
            <a:ahLst/>
            <a:cxnLst/>
            <a:rect r="r" b="b" t="t" l="l"/>
            <a:pathLst>
              <a:path h="2903056" w="4510398">
                <a:moveTo>
                  <a:pt x="0" y="0"/>
                </a:moveTo>
                <a:lnTo>
                  <a:pt x="4510398" y="0"/>
                </a:lnTo>
                <a:lnTo>
                  <a:pt x="4510398" y="2903056"/>
                </a:lnTo>
                <a:lnTo>
                  <a:pt x="0" y="2903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50790" y="7872180"/>
            <a:ext cx="1900289" cy="4114800"/>
          </a:xfrm>
          <a:custGeom>
            <a:avLst/>
            <a:gdLst/>
            <a:ahLst/>
            <a:cxnLst/>
            <a:rect r="r" b="b" t="t" l="l"/>
            <a:pathLst>
              <a:path h="4114800" w="1900289">
                <a:moveTo>
                  <a:pt x="0" y="0"/>
                </a:moveTo>
                <a:lnTo>
                  <a:pt x="1900290" y="0"/>
                </a:lnTo>
                <a:lnTo>
                  <a:pt x="19002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83041" y="2524697"/>
            <a:ext cx="13104959" cy="8988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6279" indent="-458139" lvl="1">
              <a:lnSpc>
                <a:spcPts val="7257"/>
              </a:lnSpc>
              <a:buFont typeface="Arial"/>
              <a:buChar char="•"/>
            </a:pPr>
            <a:r>
              <a:rPr lang="en-US" sz="4243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Taux Chômage par Milieu</a:t>
            </a:r>
          </a:p>
          <a:p>
            <a:pPr algn="l" marL="916279" indent="-458139" lvl="1">
              <a:lnSpc>
                <a:spcPts val="7257"/>
              </a:lnSpc>
              <a:buFont typeface="Arial"/>
              <a:buChar char="•"/>
            </a:pPr>
            <a:r>
              <a:rPr lang="en-US" sz="4243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Taux Chômage par delegation</a:t>
            </a:r>
          </a:p>
          <a:p>
            <a:pPr algn="l" marL="916279" indent="-458139" lvl="1">
              <a:lnSpc>
                <a:spcPts val="7257"/>
              </a:lnSpc>
              <a:buFont typeface="Arial"/>
              <a:buChar char="•"/>
            </a:pPr>
            <a:r>
              <a:rPr lang="en-US" sz="4243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Population Inactive par Governorat</a:t>
            </a:r>
          </a:p>
          <a:p>
            <a:pPr algn="l" marL="916279" indent="-458139" lvl="1">
              <a:lnSpc>
                <a:spcPts val="7257"/>
              </a:lnSpc>
              <a:buFont typeface="Arial"/>
              <a:buChar char="•"/>
            </a:pPr>
            <a:r>
              <a:rPr lang="en-US" sz="4243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Taux Chômage par genre</a:t>
            </a:r>
          </a:p>
          <a:p>
            <a:pPr algn="l" marL="916279" indent="-458139" lvl="1">
              <a:lnSpc>
                <a:spcPts val="7257"/>
              </a:lnSpc>
              <a:buFont typeface="Arial"/>
              <a:buChar char="•"/>
            </a:pPr>
            <a:r>
              <a:rPr lang="en-US" sz="4243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Population Chômage par Tranche Age</a:t>
            </a:r>
          </a:p>
          <a:p>
            <a:pPr algn="l" marL="916279" indent="-458139" lvl="1">
              <a:lnSpc>
                <a:spcPts val="7257"/>
              </a:lnSpc>
              <a:buFont typeface="Arial"/>
              <a:buChar char="•"/>
            </a:pPr>
            <a:r>
              <a:rPr lang="en-US" sz="4243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Population Occupee par Secteur Activite </a:t>
            </a:r>
          </a:p>
          <a:p>
            <a:pPr algn="l" marL="916279" indent="-458139" lvl="1">
              <a:lnSpc>
                <a:spcPts val="7257"/>
              </a:lnSpc>
              <a:buFont typeface="Arial"/>
              <a:buChar char="•"/>
            </a:pPr>
            <a:r>
              <a:rPr lang="en-US" sz="4243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taux de chomage par Governorat </a:t>
            </a:r>
          </a:p>
          <a:p>
            <a:pPr algn="l">
              <a:lnSpc>
                <a:spcPts val="7257"/>
              </a:lnSpc>
            </a:pPr>
          </a:p>
          <a:p>
            <a:pPr algn="l">
              <a:lnSpc>
                <a:spcPts val="7257"/>
              </a:lnSpc>
            </a:pPr>
          </a:p>
          <a:p>
            <a:pPr algn="ctr">
              <a:lnSpc>
                <a:spcPts val="662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444903" y="1371600"/>
            <a:ext cx="9215694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31"/>
              </a:lnSpc>
            </a:pPr>
            <a:r>
              <a:rPr lang="en-US" b="true" sz="11513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KPI Emploi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357527" y="9006250"/>
            <a:ext cx="1274443" cy="1274443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23375" y="9006250"/>
            <a:ext cx="1274443" cy="12744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771987" y="9006250"/>
            <a:ext cx="1274443" cy="127444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-1951016" y="3757380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5" y="0"/>
                </a:lnTo>
                <a:lnTo>
                  <a:pt x="65032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4528" y="248254"/>
            <a:ext cx="2814723" cy="4539876"/>
          </a:xfrm>
          <a:custGeom>
            <a:avLst/>
            <a:gdLst/>
            <a:ahLst/>
            <a:cxnLst/>
            <a:rect r="r" b="b" t="t" l="l"/>
            <a:pathLst>
              <a:path h="4539876" w="2814723">
                <a:moveTo>
                  <a:pt x="0" y="0"/>
                </a:moveTo>
                <a:lnTo>
                  <a:pt x="2814723" y="0"/>
                </a:lnTo>
                <a:lnTo>
                  <a:pt x="2814723" y="4539876"/>
                </a:lnTo>
                <a:lnTo>
                  <a:pt x="0" y="45398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83277" y="7119033"/>
            <a:ext cx="4510398" cy="2903056"/>
          </a:xfrm>
          <a:custGeom>
            <a:avLst/>
            <a:gdLst/>
            <a:ahLst/>
            <a:cxnLst/>
            <a:rect r="r" b="b" t="t" l="l"/>
            <a:pathLst>
              <a:path h="2903056" w="4510398">
                <a:moveTo>
                  <a:pt x="0" y="0"/>
                </a:moveTo>
                <a:lnTo>
                  <a:pt x="4510398" y="0"/>
                </a:lnTo>
                <a:lnTo>
                  <a:pt x="4510398" y="2903056"/>
                </a:lnTo>
                <a:lnTo>
                  <a:pt x="0" y="29030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79107" y="7684128"/>
            <a:ext cx="1900289" cy="4114800"/>
          </a:xfrm>
          <a:custGeom>
            <a:avLst/>
            <a:gdLst/>
            <a:ahLst/>
            <a:cxnLst/>
            <a:rect r="r" b="b" t="t" l="l"/>
            <a:pathLst>
              <a:path h="4114800" w="1900289">
                <a:moveTo>
                  <a:pt x="0" y="0"/>
                </a:moveTo>
                <a:lnTo>
                  <a:pt x="1900289" y="0"/>
                </a:lnTo>
                <a:lnTo>
                  <a:pt x="1900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52259" y="3846980"/>
            <a:ext cx="13983974" cy="5024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6851" indent="-368426" lvl="1">
              <a:lnSpc>
                <a:spcPts val="5836"/>
              </a:lnSpc>
              <a:buFont typeface="Arial"/>
              <a:buChar char="•"/>
            </a:pPr>
            <a:r>
              <a:rPr lang="en-US" sz="3412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Nombre total de migrants </a:t>
            </a:r>
          </a:p>
          <a:p>
            <a:pPr algn="l" marL="736851" indent="-368426" lvl="1">
              <a:lnSpc>
                <a:spcPts val="5836"/>
              </a:lnSpc>
              <a:buFont typeface="Arial"/>
              <a:buChar char="•"/>
            </a:pPr>
            <a:r>
              <a:rPr lang="en-US" sz="3412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Nombre Immigrants / Émigrants  (pour la migration internationale).</a:t>
            </a:r>
          </a:p>
          <a:p>
            <a:pPr algn="l" marL="736851" indent="-368426" lvl="1">
              <a:lnSpc>
                <a:spcPts val="5836"/>
              </a:lnSpc>
              <a:buFont typeface="Arial"/>
              <a:buChar char="•"/>
            </a:pPr>
            <a:r>
              <a:rPr lang="en-US" sz="3412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Nombre Entrants / Sortants  (pour la migration interne).</a:t>
            </a:r>
          </a:p>
          <a:p>
            <a:pPr algn="l" marL="736851" indent="-368426" lvl="1">
              <a:lnSpc>
                <a:spcPts val="5836"/>
              </a:lnSpc>
              <a:buFont typeface="Arial"/>
              <a:buChar char="•"/>
            </a:pPr>
            <a:r>
              <a:rPr lang="en-US" sz="3412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Migrants par gouvernorat</a:t>
            </a:r>
          </a:p>
          <a:p>
            <a:pPr algn="l" marL="736851" indent="-368426" lvl="1">
              <a:lnSpc>
                <a:spcPts val="5836"/>
              </a:lnSpc>
              <a:buFont typeface="Arial"/>
              <a:buChar char="•"/>
            </a:pPr>
            <a:r>
              <a:rPr lang="en-US" sz="3412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-US" sz="3412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aison de migration (emploi/études/mariage…)</a:t>
            </a:r>
          </a:p>
          <a:p>
            <a:pPr algn="l">
              <a:lnSpc>
                <a:spcPts val="5836"/>
              </a:lnSpc>
            </a:pPr>
          </a:p>
          <a:p>
            <a:pPr algn="ctr">
              <a:lnSpc>
                <a:spcPts val="532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740185" y="1605713"/>
            <a:ext cx="9215694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31"/>
              </a:lnSpc>
            </a:pPr>
            <a:r>
              <a:rPr lang="en-US" b="true" sz="11513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KPI Migration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357527" y="9006250"/>
            <a:ext cx="1274443" cy="1274443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023375" y="9006250"/>
            <a:ext cx="1274443" cy="12744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23334" y="1237642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7" y="0"/>
                </a:lnTo>
                <a:lnTo>
                  <a:pt x="4106217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17061" y="-2113018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90287" y="6069983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3" y="0"/>
                </a:lnTo>
                <a:lnTo>
                  <a:pt x="2644243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87090" y="10065651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0" y="0"/>
                </a:lnTo>
                <a:lnTo>
                  <a:pt x="4100910" y="2878093"/>
                </a:lnTo>
                <a:lnTo>
                  <a:pt x="0" y="28780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4161" y="4556266"/>
            <a:ext cx="8531166" cy="4616062"/>
          </a:xfrm>
          <a:custGeom>
            <a:avLst/>
            <a:gdLst/>
            <a:ahLst/>
            <a:cxnLst/>
            <a:rect r="r" b="b" t="t" l="l"/>
            <a:pathLst>
              <a:path h="4616062" w="8531166">
                <a:moveTo>
                  <a:pt x="0" y="0"/>
                </a:moveTo>
                <a:lnTo>
                  <a:pt x="8531166" y="0"/>
                </a:lnTo>
                <a:lnTo>
                  <a:pt x="8531166" y="4616062"/>
                </a:lnTo>
                <a:lnTo>
                  <a:pt x="0" y="4616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12279" y="4695718"/>
            <a:ext cx="8511056" cy="4476610"/>
          </a:xfrm>
          <a:custGeom>
            <a:avLst/>
            <a:gdLst/>
            <a:ahLst/>
            <a:cxnLst/>
            <a:rect r="r" b="b" t="t" l="l"/>
            <a:pathLst>
              <a:path h="4476610" w="8511056">
                <a:moveTo>
                  <a:pt x="0" y="0"/>
                </a:moveTo>
                <a:lnTo>
                  <a:pt x="8511055" y="0"/>
                </a:lnTo>
                <a:lnTo>
                  <a:pt x="8511055" y="4476610"/>
                </a:lnTo>
                <a:lnTo>
                  <a:pt x="0" y="4476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275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729249"/>
            <a:ext cx="4085517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2556" spc="-16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Page Éducation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7975" y="826737"/>
            <a:ext cx="10334506" cy="269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31"/>
              </a:lnSpc>
            </a:pPr>
            <a:r>
              <a:rPr lang="en-US" b="true" sz="11513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Tableau de Bord Power BI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23334" y="1237642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7" y="0"/>
                </a:lnTo>
                <a:lnTo>
                  <a:pt x="4106217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-1601428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929" y="3844804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6"/>
                </a:lnTo>
                <a:lnTo>
                  <a:pt x="0" y="4516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408907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0" y="0"/>
                </a:lnTo>
                <a:lnTo>
                  <a:pt x="4100910" y="2878093"/>
                </a:lnTo>
                <a:lnTo>
                  <a:pt x="0" y="28780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45228" y="3224860"/>
            <a:ext cx="11948825" cy="6713215"/>
          </a:xfrm>
          <a:custGeom>
            <a:avLst/>
            <a:gdLst/>
            <a:ahLst/>
            <a:cxnLst/>
            <a:rect r="r" b="b" t="t" l="l"/>
            <a:pathLst>
              <a:path h="6713215" w="11948825">
                <a:moveTo>
                  <a:pt x="0" y="0"/>
                </a:moveTo>
                <a:lnTo>
                  <a:pt x="11948825" y="0"/>
                </a:lnTo>
                <a:lnTo>
                  <a:pt x="11948825" y="6713215"/>
                </a:lnTo>
                <a:lnTo>
                  <a:pt x="0" y="67132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729249"/>
            <a:ext cx="4085517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2556" spc="-16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Page Emploi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7975" y="826737"/>
            <a:ext cx="10334506" cy="269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31"/>
              </a:lnSpc>
            </a:pPr>
            <a:r>
              <a:rPr lang="en-US" b="true" sz="11513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Tableau de Bord Power BI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23334" y="1237642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7" y="0"/>
                </a:lnTo>
                <a:lnTo>
                  <a:pt x="4106217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-1601428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929" y="3844804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6"/>
                </a:lnTo>
                <a:lnTo>
                  <a:pt x="0" y="4516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408907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0" y="0"/>
                </a:lnTo>
                <a:lnTo>
                  <a:pt x="4100910" y="2878093"/>
                </a:lnTo>
                <a:lnTo>
                  <a:pt x="0" y="28780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78974" y="4036560"/>
            <a:ext cx="9944504" cy="5613628"/>
          </a:xfrm>
          <a:custGeom>
            <a:avLst/>
            <a:gdLst/>
            <a:ahLst/>
            <a:cxnLst/>
            <a:rect r="r" b="b" t="t" l="l"/>
            <a:pathLst>
              <a:path h="5613628" w="9944504">
                <a:moveTo>
                  <a:pt x="0" y="0"/>
                </a:moveTo>
                <a:lnTo>
                  <a:pt x="9944504" y="0"/>
                </a:lnTo>
                <a:lnTo>
                  <a:pt x="9944504" y="5613628"/>
                </a:lnTo>
                <a:lnTo>
                  <a:pt x="0" y="5613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729249"/>
            <a:ext cx="4085517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2556" spc="-16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Page Emploi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7975" y="826737"/>
            <a:ext cx="10334506" cy="269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31"/>
              </a:lnSpc>
            </a:pPr>
            <a:r>
              <a:rPr lang="en-US" b="true" sz="11513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Tableau de Bord Power BI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23334" y="1237642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7" y="0"/>
                </a:lnTo>
                <a:lnTo>
                  <a:pt x="4106217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417061" y="-2113018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573" y="4036560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3" y="0"/>
                </a:lnTo>
                <a:lnTo>
                  <a:pt x="2644243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5694" y="7408907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1" y="0"/>
                </a:lnTo>
                <a:lnTo>
                  <a:pt x="4100911" y="2878093"/>
                </a:lnTo>
                <a:lnTo>
                  <a:pt x="0" y="28780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45228" y="3653049"/>
            <a:ext cx="10792443" cy="6057258"/>
          </a:xfrm>
          <a:custGeom>
            <a:avLst/>
            <a:gdLst/>
            <a:ahLst/>
            <a:cxnLst/>
            <a:rect r="r" b="b" t="t" l="l"/>
            <a:pathLst>
              <a:path h="6057258" w="10792443">
                <a:moveTo>
                  <a:pt x="0" y="0"/>
                </a:moveTo>
                <a:lnTo>
                  <a:pt x="10792443" y="0"/>
                </a:lnTo>
                <a:lnTo>
                  <a:pt x="10792443" y="6057259"/>
                </a:lnTo>
                <a:lnTo>
                  <a:pt x="0" y="60572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729249"/>
            <a:ext cx="4085517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2556" spc="-16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Page Migration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7975" y="826737"/>
            <a:ext cx="10334506" cy="269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31"/>
              </a:lnSpc>
            </a:pPr>
            <a:r>
              <a:rPr lang="en-US" b="true" sz="11513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Tableau de Bord Power BI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44990" y="8959641"/>
            <a:ext cx="7607678" cy="4813586"/>
          </a:xfrm>
          <a:custGeom>
            <a:avLst/>
            <a:gdLst/>
            <a:ahLst/>
            <a:cxnLst/>
            <a:rect r="r" b="b" t="t" l="l"/>
            <a:pathLst>
              <a:path h="4813586" w="7607678">
                <a:moveTo>
                  <a:pt x="0" y="0"/>
                </a:moveTo>
                <a:lnTo>
                  <a:pt x="7607678" y="0"/>
                </a:lnTo>
                <a:lnTo>
                  <a:pt x="7607678" y="4813586"/>
                </a:lnTo>
                <a:lnTo>
                  <a:pt x="0" y="481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20008" y="-1420224"/>
            <a:ext cx="3292727" cy="5310849"/>
          </a:xfrm>
          <a:custGeom>
            <a:avLst/>
            <a:gdLst/>
            <a:ahLst/>
            <a:cxnLst/>
            <a:rect r="r" b="b" t="t" l="l"/>
            <a:pathLst>
              <a:path h="5310849" w="3292727">
                <a:moveTo>
                  <a:pt x="0" y="0"/>
                </a:moveTo>
                <a:lnTo>
                  <a:pt x="3292727" y="0"/>
                </a:lnTo>
                <a:lnTo>
                  <a:pt x="3292727" y="5310849"/>
                </a:lnTo>
                <a:lnTo>
                  <a:pt x="0" y="53108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03094" y="5891524"/>
            <a:ext cx="3168214" cy="4813586"/>
          </a:xfrm>
          <a:custGeom>
            <a:avLst/>
            <a:gdLst/>
            <a:ahLst/>
            <a:cxnLst/>
            <a:rect r="r" b="b" t="t" l="l"/>
            <a:pathLst>
              <a:path h="4813586" w="3168214">
                <a:moveTo>
                  <a:pt x="0" y="0"/>
                </a:moveTo>
                <a:lnTo>
                  <a:pt x="3168215" y="0"/>
                </a:lnTo>
                <a:lnTo>
                  <a:pt x="3168215" y="4813586"/>
                </a:lnTo>
                <a:lnTo>
                  <a:pt x="0" y="4813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28187" y="6829736"/>
            <a:ext cx="2984423" cy="4813586"/>
          </a:xfrm>
          <a:custGeom>
            <a:avLst/>
            <a:gdLst/>
            <a:ahLst/>
            <a:cxnLst/>
            <a:rect r="r" b="b" t="t" l="l"/>
            <a:pathLst>
              <a:path h="4813586" w="2984423">
                <a:moveTo>
                  <a:pt x="0" y="0"/>
                </a:moveTo>
                <a:lnTo>
                  <a:pt x="2984423" y="0"/>
                </a:lnTo>
                <a:lnTo>
                  <a:pt x="2984423" y="4813586"/>
                </a:lnTo>
                <a:lnTo>
                  <a:pt x="0" y="48135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36" y="-2654719"/>
            <a:ext cx="1523200" cy="3298268"/>
          </a:xfrm>
          <a:custGeom>
            <a:avLst/>
            <a:gdLst/>
            <a:ahLst/>
            <a:cxnLst/>
            <a:rect r="r" b="b" t="t" l="l"/>
            <a:pathLst>
              <a:path h="3298268" w="1523200">
                <a:moveTo>
                  <a:pt x="0" y="0"/>
                </a:moveTo>
                <a:lnTo>
                  <a:pt x="1523201" y="0"/>
                </a:lnTo>
                <a:lnTo>
                  <a:pt x="1523201" y="3298268"/>
                </a:lnTo>
                <a:lnTo>
                  <a:pt x="0" y="3298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12725" y="1754782"/>
            <a:ext cx="2884906" cy="3238159"/>
          </a:xfrm>
          <a:custGeom>
            <a:avLst/>
            <a:gdLst/>
            <a:ahLst/>
            <a:cxnLst/>
            <a:rect r="r" b="b" t="t" l="l"/>
            <a:pathLst>
              <a:path h="3238159" w="2884906">
                <a:moveTo>
                  <a:pt x="0" y="0"/>
                </a:moveTo>
                <a:lnTo>
                  <a:pt x="2884905" y="0"/>
                </a:lnTo>
                <a:lnTo>
                  <a:pt x="2884905" y="3238160"/>
                </a:lnTo>
                <a:lnTo>
                  <a:pt x="0" y="32381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6315" y="1289373"/>
            <a:ext cx="6401282" cy="124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8"/>
              </a:lnSpc>
            </a:pPr>
            <a:r>
              <a:rPr lang="en-US" sz="10247" spc="-64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6236" y="2991369"/>
            <a:ext cx="12884057" cy="165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446" spc="70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Ce projet constitue une base solide pour l’analyse socio-économique en Tunisie. Il permet à l’association d’avoir une compréhension approfondie des enjeux actuels et futurs, et de mettre en place des actions ciblées pour améliorer l’éducation, réduire le chômage et atténuer les facteurs de migration.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6315" y="5095875"/>
            <a:ext cx="13976779" cy="404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9"/>
              </a:lnSpc>
            </a:pPr>
            <a:r>
              <a:rPr lang="en-US" sz="3700" spc="107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Apports pour l’association</a:t>
            </a:r>
          </a:p>
          <a:p>
            <a:pPr algn="l" marL="542721" indent="-271361" lvl="1">
              <a:lnSpc>
                <a:spcPts val="3443"/>
              </a:lnSpc>
              <a:buFont typeface="Arial"/>
              <a:buChar char="•"/>
            </a:pPr>
            <a:r>
              <a:rPr lang="en-US" b="true" sz="2513" spc="72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Possibilité de prendre des décisions stratégiques basées sur des indicateurs fiables.</a:t>
            </a:r>
          </a:p>
          <a:p>
            <a:pPr algn="l" marL="542721" indent="-271361" lvl="1">
              <a:lnSpc>
                <a:spcPts val="3443"/>
              </a:lnSpc>
              <a:buFont typeface="Arial"/>
              <a:buChar char="•"/>
            </a:pPr>
            <a:r>
              <a:rPr lang="en-US" b="true" sz="2513" spc="72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Vision globale mais aussi détaillée de la situation socio-économique tunisienne.</a:t>
            </a:r>
          </a:p>
          <a:p>
            <a:pPr algn="l" marL="542721" indent="-271361" lvl="1">
              <a:lnSpc>
                <a:spcPts val="3443"/>
              </a:lnSpc>
              <a:buFont typeface="Arial"/>
              <a:buChar char="•"/>
            </a:pPr>
            <a:r>
              <a:rPr lang="en-US" b="true" sz="2513" spc="72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Capacité à concevoir des programmes de soutien mieux ciblés selon les groupes identifiés comme prioritaires.</a:t>
            </a:r>
          </a:p>
          <a:p>
            <a:pPr algn="l" marL="542721" indent="-271361" lvl="1">
              <a:lnSpc>
                <a:spcPts val="3443"/>
              </a:lnSpc>
              <a:buFont typeface="Arial"/>
              <a:buChar char="•"/>
            </a:pPr>
            <a:r>
              <a:rPr lang="en-US" b="true" sz="2513" spc="72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Outil évolutif permettant d’intégrer les données des années suivantes et de suivre les tendances.</a:t>
            </a:r>
          </a:p>
          <a:p>
            <a:pPr algn="l">
              <a:lnSpc>
                <a:spcPts val="3443"/>
              </a:lnSpc>
            </a:pPr>
          </a:p>
          <a:p>
            <a:pPr algn="l">
              <a:lnSpc>
                <a:spcPts val="3443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9243" y="8933783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6" y="0"/>
                </a:lnTo>
                <a:lnTo>
                  <a:pt x="6503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26197" y="3163867"/>
            <a:ext cx="2814723" cy="4539876"/>
          </a:xfrm>
          <a:custGeom>
            <a:avLst/>
            <a:gdLst/>
            <a:ahLst/>
            <a:cxnLst/>
            <a:rect r="r" b="b" t="t" l="l"/>
            <a:pathLst>
              <a:path h="4539876" w="2814723">
                <a:moveTo>
                  <a:pt x="0" y="0"/>
                </a:moveTo>
                <a:lnTo>
                  <a:pt x="2814724" y="0"/>
                </a:lnTo>
                <a:lnTo>
                  <a:pt x="2814724" y="4539876"/>
                </a:lnTo>
                <a:lnTo>
                  <a:pt x="0" y="4539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59947" y="-963229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0" y="0"/>
                </a:lnTo>
                <a:lnTo>
                  <a:pt x="4100910" y="2878093"/>
                </a:lnTo>
                <a:lnTo>
                  <a:pt x="0" y="2878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69043" y="3211454"/>
            <a:ext cx="2708287" cy="4114800"/>
          </a:xfrm>
          <a:custGeom>
            <a:avLst/>
            <a:gdLst/>
            <a:ahLst/>
            <a:cxnLst/>
            <a:rect r="r" b="b" t="t" l="l"/>
            <a:pathLst>
              <a:path h="4114800" w="2708287">
                <a:moveTo>
                  <a:pt x="0" y="0"/>
                </a:moveTo>
                <a:lnTo>
                  <a:pt x="2708286" y="0"/>
                </a:lnTo>
                <a:lnTo>
                  <a:pt x="2708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09433" y="8101218"/>
            <a:ext cx="6357135" cy="4114800"/>
          </a:xfrm>
          <a:custGeom>
            <a:avLst/>
            <a:gdLst/>
            <a:ahLst/>
            <a:cxnLst/>
            <a:rect r="r" b="b" t="t" l="l"/>
            <a:pathLst>
              <a:path h="4114800" w="6357135">
                <a:moveTo>
                  <a:pt x="0" y="0"/>
                </a:moveTo>
                <a:lnTo>
                  <a:pt x="6357134" y="0"/>
                </a:lnTo>
                <a:lnTo>
                  <a:pt x="6357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48448" y="5873038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2551176" y="0"/>
                </a:moveTo>
                <a:lnTo>
                  <a:pt x="0" y="0"/>
                </a:lnTo>
                <a:lnTo>
                  <a:pt x="0" y="4114800"/>
                </a:lnTo>
                <a:lnTo>
                  <a:pt x="2551176" y="4114800"/>
                </a:lnTo>
                <a:lnTo>
                  <a:pt x="255117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22808" y="0"/>
            <a:ext cx="3571674" cy="2413293"/>
          </a:xfrm>
          <a:custGeom>
            <a:avLst/>
            <a:gdLst/>
            <a:ahLst/>
            <a:cxnLst/>
            <a:rect r="r" b="b" t="t" l="l"/>
            <a:pathLst>
              <a:path h="2413293" w="3571674">
                <a:moveTo>
                  <a:pt x="0" y="0"/>
                </a:moveTo>
                <a:lnTo>
                  <a:pt x="3571675" y="0"/>
                </a:lnTo>
                <a:lnTo>
                  <a:pt x="3571675" y="2413293"/>
                </a:lnTo>
                <a:lnTo>
                  <a:pt x="0" y="24132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8867" y="2312822"/>
            <a:ext cx="12235455" cy="501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32"/>
              </a:lnSpc>
            </a:pPr>
            <a:r>
              <a:rPr lang="en-US" b="true" sz="15819" spc="-996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Merci pour votre attention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9243" y="8933783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6" y="0"/>
                </a:lnTo>
                <a:lnTo>
                  <a:pt x="6503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26197" y="3163867"/>
            <a:ext cx="2814723" cy="4539876"/>
          </a:xfrm>
          <a:custGeom>
            <a:avLst/>
            <a:gdLst/>
            <a:ahLst/>
            <a:cxnLst/>
            <a:rect r="r" b="b" t="t" l="l"/>
            <a:pathLst>
              <a:path h="4539876" w="2814723">
                <a:moveTo>
                  <a:pt x="0" y="0"/>
                </a:moveTo>
                <a:lnTo>
                  <a:pt x="2814724" y="0"/>
                </a:lnTo>
                <a:lnTo>
                  <a:pt x="2814724" y="4539876"/>
                </a:lnTo>
                <a:lnTo>
                  <a:pt x="0" y="4539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59947" y="-963229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0" y="0"/>
                </a:lnTo>
                <a:lnTo>
                  <a:pt x="4100910" y="2878093"/>
                </a:lnTo>
                <a:lnTo>
                  <a:pt x="0" y="2878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35148" y="3112789"/>
            <a:ext cx="2708287" cy="4114800"/>
          </a:xfrm>
          <a:custGeom>
            <a:avLst/>
            <a:gdLst/>
            <a:ahLst/>
            <a:cxnLst/>
            <a:rect r="r" b="b" t="t" l="l"/>
            <a:pathLst>
              <a:path h="4114800" w="2708287">
                <a:moveTo>
                  <a:pt x="0" y="0"/>
                </a:moveTo>
                <a:lnTo>
                  <a:pt x="2708286" y="0"/>
                </a:lnTo>
                <a:lnTo>
                  <a:pt x="2708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09433" y="8101218"/>
            <a:ext cx="6357135" cy="4114800"/>
          </a:xfrm>
          <a:custGeom>
            <a:avLst/>
            <a:gdLst/>
            <a:ahLst/>
            <a:cxnLst/>
            <a:rect r="r" b="b" t="t" l="l"/>
            <a:pathLst>
              <a:path h="4114800" w="6357135">
                <a:moveTo>
                  <a:pt x="0" y="0"/>
                </a:moveTo>
                <a:lnTo>
                  <a:pt x="6357134" y="0"/>
                </a:lnTo>
                <a:lnTo>
                  <a:pt x="6357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48448" y="5873038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2551176" y="0"/>
                </a:moveTo>
                <a:lnTo>
                  <a:pt x="0" y="0"/>
                </a:lnTo>
                <a:lnTo>
                  <a:pt x="0" y="4114800"/>
                </a:lnTo>
                <a:lnTo>
                  <a:pt x="2551176" y="4114800"/>
                </a:lnTo>
                <a:lnTo>
                  <a:pt x="255117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40209" y="4296560"/>
            <a:ext cx="6028638" cy="5862057"/>
          </a:xfrm>
          <a:custGeom>
            <a:avLst/>
            <a:gdLst/>
            <a:ahLst/>
            <a:cxnLst/>
            <a:rect r="r" b="b" t="t" l="l"/>
            <a:pathLst>
              <a:path h="5862057" w="6028638">
                <a:moveTo>
                  <a:pt x="0" y="0"/>
                </a:moveTo>
                <a:lnTo>
                  <a:pt x="6028639" y="0"/>
                </a:lnTo>
                <a:lnTo>
                  <a:pt x="6028639" y="5862058"/>
                </a:lnTo>
                <a:lnTo>
                  <a:pt x="0" y="58620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06616" y="5268854"/>
            <a:ext cx="1895824" cy="2560243"/>
          </a:xfrm>
          <a:custGeom>
            <a:avLst/>
            <a:gdLst/>
            <a:ahLst/>
            <a:cxnLst/>
            <a:rect r="r" b="b" t="t" l="l"/>
            <a:pathLst>
              <a:path h="2560243" w="1895824">
                <a:moveTo>
                  <a:pt x="0" y="0"/>
                </a:moveTo>
                <a:lnTo>
                  <a:pt x="1895825" y="0"/>
                </a:lnTo>
                <a:lnTo>
                  <a:pt x="1895825" y="2560243"/>
                </a:lnTo>
                <a:lnTo>
                  <a:pt x="0" y="25602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25443" y="0"/>
            <a:ext cx="3571674" cy="2413293"/>
          </a:xfrm>
          <a:custGeom>
            <a:avLst/>
            <a:gdLst/>
            <a:ahLst/>
            <a:cxnLst/>
            <a:rect r="r" b="b" t="t" l="l"/>
            <a:pathLst>
              <a:path h="2413293" w="3571674">
                <a:moveTo>
                  <a:pt x="0" y="0"/>
                </a:moveTo>
                <a:lnTo>
                  <a:pt x="3571674" y="0"/>
                </a:lnTo>
                <a:lnTo>
                  <a:pt x="3571674" y="2413293"/>
                </a:lnTo>
                <a:lnTo>
                  <a:pt x="0" y="241329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49513" y="1604941"/>
            <a:ext cx="14010433" cy="248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32"/>
              </a:lnSpc>
            </a:pPr>
            <a:r>
              <a:rPr lang="en-US" b="true" sz="15819" spc="-996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Partie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DAG6LeyqS_Y</dc:identifier>
  <dcterms:modified xsi:type="dcterms:W3CDTF">2011-08-01T06:04:30Z</dcterms:modified>
  <cp:revision>1</cp:revision>
  <dc:title>presentation</dc:title>
</cp:coreProperties>
</file>